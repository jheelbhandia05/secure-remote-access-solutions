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4" r:id="rId5"/>
    <p:sldId id="265" r:id="rId6"/>
    <p:sldId id="266" r:id="rId7"/>
    <p:sldId id="267" r:id="rId8"/>
    <p:sldId id="268" r:id="rId9"/>
    <p:sldId id="277" r:id="rId10"/>
    <p:sldId id="269" r:id="rId11"/>
    <p:sldId id="270" r:id="rId12"/>
    <p:sldId id="278" r:id="rId13"/>
    <p:sldId id="271" r:id="rId14"/>
    <p:sldId id="272" r:id="rId15"/>
    <p:sldId id="279" r:id="rId16"/>
    <p:sldId id="273" r:id="rId17"/>
    <p:sldId id="276" r:id="rId18"/>
    <p:sldId id="275" r:id="rId19"/>
    <p:sldId id="274" r:id="rId20"/>
    <p:sldId id="262" r:id="rId21"/>
    <p:sldId id="263"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autoAdjust="0"/>
    <p:restoredTop sz="94660"/>
  </p:normalViewPr>
  <p:slideViewPr>
    <p:cSldViewPr>
      <p:cViewPr>
        <p:scale>
          <a:sx n="69" d="100"/>
          <a:sy n="69" d="100"/>
        </p:scale>
        <p:origin x="1147" y="2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66750" y="588644"/>
            <a:ext cx="821690"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504717" y="6123420"/>
            <a:ext cx="1998567" cy="535709"/>
          </a:xfrm>
          <a:prstGeom prst="rect">
            <a:avLst/>
          </a:prstGeom>
        </p:spPr>
      </p:pic>
      <p:sp>
        <p:nvSpPr>
          <p:cNvPr id="2" name="Holder 2"/>
          <p:cNvSpPr>
            <a:spLocks noGrp="1"/>
          </p:cNvSpPr>
          <p:nvPr>
            <p:ph type="title"/>
          </p:nvPr>
        </p:nvSpPr>
        <p:spPr>
          <a:xfrm>
            <a:off x="666750" y="588644"/>
            <a:ext cx="1380489"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66750" y="6215246"/>
            <a:ext cx="7212965" cy="362584"/>
          </a:xfrm>
          <a:prstGeom prst="rect">
            <a:avLst/>
          </a:prstGeom>
        </p:spPr>
        <p:txBody>
          <a:bodyPr wrap="square" lIns="0" tIns="0" rIns="0" bIns="0">
            <a:spAutoFit/>
          </a:bodyPr>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7997"/>
            </a:xfrm>
            <a:prstGeom prst="rect">
              <a:avLst/>
            </a:prstGeom>
          </p:spPr>
        </p:pic>
        <p:pic>
          <p:nvPicPr>
            <p:cNvPr id="5" name="object 5"/>
            <p:cNvPicPr/>
            <p:nvPr/>
          </p:nvPicPr>
          <p:blipFill>
            <a:blip r:embed="rId3" cstate="print"/>
            <a:stretch>
              <a:fillRect/>
            </a:stretch>
          </p:blipFill>
          <p:spPr>
            <a:xfrm>
              <a:off x="4019550" y="914400"/>
              <a:ext cx="5153025" cy="1419225"/>
            </a:xfrm>
            <a:prstGeom prst="rect">
              <a:avLst/>
            </a:prstGeom>
          </p:spPr>
        </p:pic>
      </p:grpSp>
      <p:sp>
        <p:nvSpPr>
          <p:cNvPr id="6" name="object 6"/>
          <p:cNvSpPr txBox="1">
            <a:spLocks noGrp="1"/>
          </p:cNvSpPr>
          <p:nvPr>
            <p:ph type="title"/>
          </p:nvPr>
        </p:nvSpPr>
        <p:spPr>
          <a:xfrm>
            <a:off x="1295400" y="2719387"/>
            <a:ext cx="9601200" cy="1419225"/>
          </a:xfrm>
          <a:prstGeom prst="rect">
            <a:avLst/>
          </a:prstGeom>
        </p:spPr>
        <p:txBody>
          <a:bodyPr vert="horz" wrap="square" lIns="0" tIns="16510" rIns="0" bIns="0" rtlCol="0">
            <a:spAutoFit/>
          </a:bodyPr>
          <a:lstStyle/>
          <a:p>
            <a:pPr marL="12700" algn="ctr">
              <a:lnSpc>
                <a:spcPct val="100000"/>
              </a:lnSpc>
              <a:spcBef>
                <a:spcPts val="130"/>
              </a:spcBef>
            </a:pPr>
            <a:r>
              <a:rPr lang="en-US" sz="4400" dirty="0">
                <a:solidFill>
                  <a:schemeClr val="bg1"/>
                </a:solidFill>
              </a:rPr>
              <a:t>Secure Remote Access VPN using           </a:t>
            </a:r>
            <a:r>
              <a:rPr lang="en-US" sz="4400" dirty="0" err="1">
                <a:solidFill>
                  <a:schemeClr val="bg1"/>
                </a:solidFill>
              </a:rPr>
              <a:t>WireGuard</a:t>
            </a:r>
            <a:endParaRPr sz="4400" dirty="0">
              <a:solidFill>
                <a:schemeClr val="bg1"/>
              </a:solidFill>
            </a:endParaRPr>
          </a:p>
        </p:txBody>
      </p:sp>
      <p:sp>
        <p:nvSpPr>
          <p:cNvPr id="7" name="TextBox 6">
            <a:extLst>
              <a:ext uri="{FF2B5EF4-FFF2-40B4-BE49-F238E27FC236}">
                <a16:creationId xmlns:a16="http://schemas.microsoft.com/office/drawing/2014/main" id="{4458A086-DDDC-3D55-3E01-3D133BA37A8C}"/>
              </a:ext>
            </a:extLst>
          </p:cNvPr>
          <p:cNvSpPr txBox="1"/>
          <p:nvPr/>
        </p:nvSpPr>
        <p:spPr>
          <a:xfrm>
            <a:off x="8153400" y="5257800"/>
            <a:ext cx="3733800" cy="646331"/>
          </a:xfrm>
          <a:prstGeom prst="rect">
            <a:avLst/>
          </a:prstGeom>
          <a:noFill/>
        </p:spPr>
        <p:txBody>
          <a:bodyPr wrap="square" rtlCol="0">
            <a:spAutoFit/>
          </a:bodyPr>
          <a:lstStyle/>
          <a:p>
            <a:r>
              <a:rPr lang="en-US" dirty="0">
                <a:solidFill>
                  <a:schemeClr val="bg1"/>
                </a:solidFill>
              </a:rPr>
              <a:t>Project By:</a:t>
            </a:r>
          </a:p>
          <a:p>
            <a:r>
              <a:rPr lang="en-US" dirty="0">
                <a:solidFill>
                  <a:schemeClr val="bg1"/>
                </a:solidFill>
              </a:rPr>
              <a:t>          Jheel Girish Bhandia</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0" y="685800"/>
            <a:ext cx="3352800" cy="541019"/>
          </a:xfrm>
          <a:prstGeom prst="rect">
            <a:avLst/>
          </a:prstGeom>
        </p:spPr>
        <p:txBody>
          <a:bodyPr vert="horz" wrap="square" lIns="0" tIns="16510" rIns="0" bIns="0" rtlCol="0">
            <a:spAutoFit/>
          </a:bodyPr>
          <a:lstStyle/>
          <a:p>
            <a:pPr marL="12700" algn="ctr">
              <a:lnSpc>
                <a:spcPct val="100000"/>
              </a:lnSpc>
              <a:spcBef>
                <a:spcPts val="130"/>
              </a:spcBef>
            </a:pPr>
            <a:r>
              <a:rPr spc="-10" dirty="0"/>
              <a:t>Agenda</a:t>
            </a:r>
          </a:p>
        </p:txBody>
      </p:sp>
      <p:sp>
        <p:nvSpPr>
          <p:cNvPr id="3" name="object 3"/>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4" name="TextBox 3">
            <a:extLst>
              <a:ext uri="{FF2B5EF4-FFF2-40B4-BE49-F238E27FC236}">
                <a16:creationId xmlns:a16="http://schemas.microsoft.com/office/drawing/2014/main" id="{EF6FB014-1A9A-F21F-9C5B-0D4D6097A274}"/>
              </a:ext>
            </a:extLst>
          </p:cNvPr>
          <p:cNvSpPr txBox="1"/>
          <p:nvPr/>
        </p:nvSpPr>
        <p:spPr>
          <a:xfrm>
            <a:off x="152400" y="1567525"/>
            <a:ext cx="11734800" cy="338554"/>
          </a:xfrm>
          <a:prstGeom prst="rect">
            <a:avLst/>
          </a:prstGeom>
          <a:noFill/>
        </p:spPr>
        <p:txBody>
          <a:bodyPr wrap="square" rtlCol="0">
            <a:spAutoFit/>
          </a:bodyPr>
          <a:lstStyle/>
          <a:p>
            <a:pPr algn="ctr"/>
            <a:endParaRPr lang="en-IN" sz="1600" dirty="0">
              <a:solidFill>
                <a:schemeClr val="bg1"/>
              </a:solidFill>
            </a:endParaRPr>
          </a:p>
        </p:txBody>
      </p:sp>
      <p:sp>
        <p:nvSpPr>
          <p:cNvPr id="5" name="TextBox 4">
            <a:extLst>
              <a:ext uri="{FF2B5EF4-FFF2-40B4-BE49-F238E27FC236}">
                <a16:creationId xmlns:a16="http://schemas.microsoft.com/office/drawing/2014/main" id="{D262A79A-3013-75D0-1F60-C9C12A778489}"/>
              </a:ext>
            </a:extLst>
          </p:cNvPr>
          <p:cNvSpPr txBox="1"/>
          <p:nvPr/>
        </p:nvSpPr>
        <p:spPr>
          <a:xfrm>
            <a:off x="457200" y="1447800"/>
            <a:ext cx="9067800" cy="3416320"/>
          </a:xfrm>
          <a:prstGeom prst="rect">
            <a:avLst/>
          </a:prstGeom>
          <a:noFill/>
        </p:spPr>
        <p:txBody>
          <a:bodyPr wrap="square" rtlCol="0">
            <a:spAutoFit/>
          </a:bodyPr>
          <a:lstStyle/>
          <a:p>
            <a:pPr marL="342900" indent="-342900" algn="l">
              <a:buFont typeface="+mj-lt"/>
              <a:buAutoNum type="arabicPeriod"/>
            </a:pPr>
            <a:r>
              <a:rPr lang="en-US" dirty="0"/>
              <a:t>Introduction</a:t>
            </a:r>
          </a:p>
          <a:p>
            <a:pPr marL="342900" indent="-342900" algn="l">
              <a:buFont typeface="+mj-lt"/>
              <a:buAutoNum type="arabicPeriod"/>
            </a:pPr>
            <a:r>
              <a:rPr lang="en-IN" dirty="0"/>
              <a:t>Project Objectives</a:t>
            </a:r>
          </a:p>
          <a:p>
            <a:pPr marL="342900" indent="-342900" algn="l">
              <a:buFont typeface="+mj-lt"/>
              <a:buAutoNum type="arabicPeriod"/>
            </a:pPr>
            <a:r>
              <a:rPr lang="en-IN" dirty="0"/>
              <a:t>Remote Access Solution Design Document</a:t>
            </a:r>
          </a:p>
          <a:p>
            <a:pPr marL="342900" indent="-342900" algn="l">
              <a:buFont typeface="+mj-lt"/>
              <a:buAutoNum type="arabicPeriod"/>
            </a:pPr>
            <a:r>
              <a:rPr lang="en-IN" dirty="0"/>
              <a:t>Encryption and Authentication Plan</a:t>
            </a:r>
          </a:p>
          <a:p>
            <a:pPr marL="342900" indent="-342900" algn="l">
              <a:buFont typeface="+mj-lt"/>
              <a:buAutoNum type="arabicPeriod"/>
            </a:pPr>
            <a:r>
              <a:rPr lang="en-IN" dirty="0"/>
              <a:t>Endpoint Security Plan</a:t>
            </a:r>
          </a:p>
          <a:p>
            <a:pPr marL="342900" indent="-342900" algn="l">
              <a:buFont typeface="+mj-lt"/>
              <a:buAutoNum type="arabicPeriod"/>
            </a:pPr>
            <a:r>
              <a:rPr lang="en-IN" dirty="0"/>
              <a:t>Network Access Control Strategy</a:t>
            </a:r>
          </a:p>
          <a:p>
            <a:pPr marL="342900" indent="-342900" algn="l">
              <a:buFont typeface="+mj-lt"/>
              <a:buAutoNum type="arabicPeriod"/>
            </a:pPr>
            <a:r>
              <a:rPr lang="en-US" dirty="0"/>
              <a:t>Secure Remote Access Tools Configuration</a:t>
            </a:r>
          </a:p>
          <a:p>
            <a:pPr marL="342900" indent="-342900" algn="l">
              <a:buFont typeface="+mj-lt"/>
              <a:buAutoNum type="arabicPeriod"/>
            </a:pPr>
            <a:r>
              <a:rPr lang="en-IN" dirty="0"/>
              <a:t>Monitoring and Logging Plan</a:t>
            </a:r>
          </a:p>
          <a:p>
            <a:pPr marL="342900" indent="-342900" algn="l">
              <a:buFont typeface="+mj-lt"/>
              <a:buAutoNum type="arabicPeriod"/>
            </a:pPr>
            <a:r>
              <a:rPr lang="en-IN" dirty="0"/>
              <a:t>User Training Materials</a:t>
            </a:r>
          </a:p>
          <a:p>
            <a:pPr marL="342900" indent="-342900" algn="l">
              <a:buFont typeface="+mj-lt"/>
              <a:buAutoNum type="arabicPeriod"/>
            </a:pPr>
            <a:r>
              <a:rPr lang="en-IN" dirty="0"/>
              <a:t>Policy and Compliance Documentation</a:t>
            </a:r>
          </a:p>
          <a:p>
            <a:pPr marL="342900" indent="-342900" algn="l">
              <a:buFont typeface="+mj-lt"/>
              <a:buAutoNum type="arabicPeriod"/>
            </a:pPr>
            <a:r>
              <a:rPr lang="en-IN" dirty="0"/>
              <a:t>Mitigation</a:t>
            </a:r>
          </a:p>
          <a:p>
            <a:pPr marL="342900" indent="-342900" algn="l">
              <a:buFont typeface="+mj-lt"/>
              <a:buAutoNum type="arabicPeriod"/>
            </a:pPr>
            <a:r>
              <a:rPr lang="en-IN"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6750" y="588644"/>
            <a:ext cx="3905250" cy="532197"/>
          </a:xfrm>
          <a:prstGeom prst="rect">
            <a:avLst/>
          </a:prstGeom>
        </p:spPr>
        <p:txBody>
          <a:bodyPr vert="horz" wrap="square" lIns="0" tIns="16510" rIns="0" bIns="0" rtlCol="0">
            <a:spAutoFit/>
          </a:bodyPr>
          <a:lstStyle/>
          <a:p>
            <a:pPr marL="12700">
              <a:lnSpc>
                <a:spcPct val="100000"/>
              </a:lnSpc>
              <a:spcBef>
                <a:spcPts val="130"/>
              </a:spcBef>
            </a:pPr>
            <a:r>
              <a:rPr lang="en-US" u="sng" spc="-10" dirty="0"/>
              <a:t>INTRODUCTION</a:t>
            </a:r>
            <a:endParaRPr u="sng" spc="-10" dirty="0"/>
          </a:p>
        </p:txBody>
      </p:sp>
      <p:sp>
        <p:nvSpPr>
          <p:cNvPr id="4" name="object 4"/>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TextBox 4">
            <a:extLst>
              <a:ext uri="{FF2B5EF4-FFF2-40B4-BE49-F238E27FC236}">
                <a16:creationId xmlns:a16="http://schemas.microsoft.com/office/drawing/2014/main" id="{5F392D74-1FC2-5D59-8E67-82506FEE9CEA}"/>
              </a:ext>
            </a:extLst>
          </p:cNvPr>
          <p:cNvSpPr txBox="1"/>
          <p:nvPr/>
        </p:nvSpPr>
        <p:spPr>
          <a:xfrm>
            <a:off x="533400" y="1371600"/>
            <a:ext cx="1074420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In today’s digital workplace, employees frequently access company systems while working remotely or traveling. This creates the need for a secure and reliable method to connect to corporate resources. Without proper security, remote access can expose the organization to cyber threats, data breaches, and unauthorized access.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purpose of this project is to design and implement a secure remote access solution that ensures confidentiality, integrity, and authentication of all remote connections. This includes using VPN technology, strong encryption, multi-factor authentication, and endpoint security to protect sensitive corporate data from potential cyber risks.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project focuses on evaluating the existing remote access infrastructure, identifying security gaps, and deploying a comprehensive secure access solution. The solution includes VPN implementation, MFA integration, Zero Trust principles, secure remote tools, and centralized monitoring. The final outcome enables employees to safely access company resources from any location while maintaining strong security controls.</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A330-0691-521D-B14D-3A833404E455}"/>
              </a:ext>
            </a:extLst>
          </p:cNvPr>
          <p:cNvSpPr>
            <a:spLocks noGrp="1"/>
          </p:cNvSpPr>
          <p:nvPr>
            <p:ph type="title"/>
          </p:nvPr>
        </p:nvSpPr>
        <p:spPr>
          <a:xfrm>
            <a:off x="666750" y="588645"/>
            <a:ext cx="3295650" cy="515526"/>
          </a:xfrm>
        </p:spPr>
        <p:txBody>
          <a:bodyPr/>
          <a:lstStyle/>
          <a:p>
            <a:r>
              <a:rPr lang="en-US" u="sng" dirty="0"/>
              <a:t>OBJECTIVES</a:t>
            </a:r>
            <a:endParaRPr lang="en-IN" u="sng" dirty="0"/>
          </a:p>
        </p:txBody>
      </p:sp>
      <p:sp>
        <p:nvSpPr>
          <p:cNvPr id="4" name="Rectangle 1">
            <a:extLst>
              <a:ext uri="{FF2B5EF4-FFF2-40B4-BE49-F238E27FC236}">
                <a16:creationId xmlns:a16="http://schemas.microsoft.com/office/drawing/2014/main" id="{B0A2563B-4CE8-6F21-66D8-A36C5EEE7628}"/>
              </a:ext>
            </a:extLst>
          </p:cNvPr>
          <p:cNvSpPr>
            <a:spLocks noGrp="1" noChangeArrowheads="1"/>
          </p:cNvSpPr>
          <p:nvPr>
            <p:ph type="body" idx="1"/>
          </p:nvPr>
        </p:nvSpPr>
        <p:spPr bwMode="auto">
          <a:xfrm>
            <a:off x="521397" y="1371600"/>
            <a:ext cx="1143774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employees a safe and secure way to connect to company systems from home or while traveling.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protect company data from unauthorized access using VPN and strong encryption.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improve security by adding Multi-Factor Authentication (MFA) for all remote logins.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ensure only safe and updated devices can connect to the network using endpoint security checks.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follow the Zero Trust approach where every user and device is verified before giving access.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monitor remote access activities and quickly detect suspicious behavior.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create clear security policies and train employees on safe remote working practices.</a:t>
            </a:r>
          </a:p>
        </p:txBody>
      </p:sp>
    </p:spTree>
    <p:extLst>
      <p:ext uri="{BB962C8B-B14F-4D97-AF65-F5344CB8AC3E}">
        <p14:creationId xmlns:p14="http://schemas.microsoft.com/office/powerpoint/2010/main" val="231644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C828F-70DE-72C2-A194-E3FD029F6DF6}"/>
              </a:ext>
            </a:extLst>
          </p:cNvPr>
          <p:cNvSpPr>
            <a:spLocks noGrp="1"/>
          </p:cNvSpPr>
          <p:nvPr>
            <p:ph type="title"/>
          </p:nvPr>
        </p:nvSpPr>
        <p:spPr>
          <a:xfrm>
            <a:off x="666750" y="588645"/>
            <a:ext cx="8934450" cy="1031051"/>
          </a:xfrm>
        </p:spPr>
        <p:txBody>
          <a:bodyPr/>
          <a:lstStyle/>
          <a:p>
            <a:r>
              <a:rPr lang="en-IN" u="sng" dirty="0"/>
              <a:t>Remote Access Solution Design Document</a:t>
            </a:r>
            <a:br>
              <a:rPr lang="en-IN" dirty="0"/>
            </a:br>
            <a:endParaRPr lang="en-IN" dirty="0"/>
          </a:p>
        </p:txBody>
      </p:sp>
      <p:sp>
        <p:nvSpPr>
          <p:cNvPr id="3" name="Text Placeholder 2">
            <a:extLst>
              <a:ext uri="{FF2B5EF4-FFF2-40B4-BE49-F238E27FC236}">
                <a16:creationId xmlns:a16="http://schemas.microsoft.com/office/drawing/2014/main" id="{7FF8DF5F-6513-CD7B-1CB8-40EC068B0AFE}"/>
              </a:ext>
            </a:extLst>
          </p:cNvPr>
          <p:cNvSpPr>
            <a:spLocks noGrp="1"/>
          </p:cNvSpPr>
          <p:nvPr>
            <p:ph type="body" idx="1"/>
          </p:nvPr>
        </p:nvSpPr>
        <p:spPr>
          <a:xfrm>
            <a:off x="457200" y="1524000"/>
            <a:ext cx="10972800" cy="4708981"/>
          </a:xfrm>
        </p:spPr>
        <p:txBody>
          <a:bodyPr/>
          <a:lstStyle/>
          <a:p>
            <a:r>
              <a:rPr lang="en-IN" dirty="0"/>
              <a:t>Provide secure remote access for employees/administrators with encryption, MFA, and controlled access.</a:t>
            </a:r>
          </a:p>
          <a:p>
            <a:endParaRPr lang="en-IN" dirty="0"/>
          </a:p>
          <a:p>
            <a:r>
              <a:rPr lang="en-IN" b="1" dirty="0"/>
              <a:t>Key Technologies :</a:t>
            </a:r>
          </a:p>
          <a:p>
            <a:endParaRPr lang="en-IN" b="1" dirty="0"/>
          </a:p>
          <a:p>
            <a:pPr marL="285750" indent="-285750">
              <a:buFont typeface="Arial" panose="020B0604020202020204" pitchFamily="34" charset="0"/>
              <a:buChar char="•"/>
            </a:pPr>
            <a:r>
              <a:rPr lang="en-IN" b="1" dirty="0"/>
              <a:t>VPN</a:t>
            </a:r>
            <a:r>
              <a:rPr lang="en-IN" dirty="0"/>
              <a:t> (fast, modern, secure)</a:t>
            </a:r>
          </a:p>
          <a:p>
            <a:endParaRPr lang="en-IN" dirty="0"/>
          </a:p>
          <a:p>
            <a:pPr marL="285750" indent="-285750">
              <a:buFont typeface="Arial" panose="020B0604020202020204" pitchFamily="34" charset="0"/>
              <a:buChar char="•"/>
            </a:pPr>
            <a:r>
              <a:rPr lang="en-IN" b="1" dirty="0"/>
              <a:t>Identity Provider (Azure AD / Okta) with MFA</a:t>
            </a:r>
          </a:p>
          <a:p>
            <a:endParaRPr lang="en-IN" dirty="0"/>
          </a:p>
          <a:p>
            <a:pPr marL="285750" indent="-285750">
              <a:buFont typeface="Arial" panose="020B0604020202020204" pitchFamily="34" charset="0"/>
              <a:buChar char="•"/>
            </a:pPr>
            <a:r>
              <a:rPr lang="en-IN" b="1" dirty="0"/>
              <a:t>Reverse Proxy / App Gateway</a:t>
            </a:r>
            <a:r>
              <a:rPr lang="en-IN" dirty="0"/>
              <a:t> for web apps</a:t>
            </a:r>
          </a:p>
          <a:p>
            <a:endParaRPr lang="en-IN" dirty="0"/>
          </a:p>
          <a:p>
            <a:pPr marL="285750" indent="-285750">
              <a:buFont typeface="Arial" panose="020B0604020202020204" pitchFamily="34" charset="0"/>
              <a:buChar char="•"/>
            </a:pPr>
            <a:r>
              <a:rPr lang="en-IN" b="1" dirty="0"/>
              <a:t>SIEM</a:t>
            </a:r>
            <a:r>
              <a:rPr lang="en-IN" dirty="0"/>
              <a:t> for centralized monitoring</a:t>
            </a:r>
          </a:p>
          <a:p>
            <a:endParaRPr lang="en-IN" dirty="0"/>
          </a:p>
          <a:p>
            <a:pPr marL="285750" indent="-285750">
              <a:buFont typeface="Arial" panose="020B0604020202020204" pitchFamily="34" charset="0"/>
              <a:buChar char="•"/>
            </a:pPr>
            <a:r>
              <a:rPr lang="en-IN" b="1" dirty="0"/>
              <a:t>Firewall + Micro-segmentation</a:t>
            </a:r>
            <a:endParaRPr lang="en-IN" dirty="0"/>
          </a:p>
          <a:p>
            <a:endParaRPr lang="en-IN" u="sng" dirty="0"/>
          </a:p>
          <a:p>
            <a:endParaRPr lang="en-IN" u="sng" dirty="0"/>
          </a:p>
          <a:p>
            <a:endParaRPr lang="en-IN" u="sng" dirty="0"/>
          </a:p>
          <a:p>
            <a:endParaRPr lang="en-IN" dirty="0"/>
          </a:p>
        </p:txBody>
      </p:sp>
    </p:spTree>
    <p:extLst>
      <p:ext uri="{BB962C8B-B14F-4D97-AF65-F5344CB8AC3E}">
        <p14:creationId xmlns:p14="http://schemas.microsoft.com/office/powerpoint/2010/main" val="329413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43CA-8C0C-799E-84D6-BDA444A0840D}"/>
              </a:ext>
            </a:extLst>
          </p:cNvPr>
          <p:cNvSpPr>
            <a:spLocks noGrp="1"/>
          </p:cNvSpPr>
          <p:nvPr>
            <p:ph type="title"/>
          </p:nvPr>
        </p:nvSpPr>
        <p:spPr>
          <a:xfrm>
            <a:off x="666750" y="588645"/>
            <a:ext cx="7486650" cy="515526"/>
          </a:xfrm>
        </p:spPr>
        <p:txBody>
          <a:bodyPr/>
          <a:lstStyle/>
          <a:p>
            <a:pPr marL="457200" indent="-457200">
              <a:buFont typeface="Wingdings" panose="05000000000000000000" pitchFamily="2" charset="2"/>
              <a:buChar char="Ø"/>
            </a:pPr>
            <a:r>
              <a:rPr lang="en-IN" dirty="0"/>
              <a:t>High-Level Architecture</a:t>
            </a:r>
          </a:p>
        </p:txBody>
      </p:sp>
      <p:pic>
        <p:nvPicPr>
          <p:cNvPr id="5" name="Picture 4" descr="A diagram of a computer network&#10;&#10;AI-generated content may be incorrect.">
            <a:extLst>
              <a:ext uri="{FF2B5EF4-FFF2-40B4-BE49-F238E27FC236}">
                <a16:creationId xmlns:a16="http://schemas.microsoft.com/office/drawing/2014/main" id="{C0269414-4E16-0D47-A56D-154192754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1066800"/>
            <a:ext cx="4572000" cy="5638799"/>
          </a:xfrm>
          <a:prstGeom prst="rect">
            <a:avLst/>
          </a:prstGeom>
        </p:spPr>
      </p:pic>
    </p:spTree>
    <p:extLst>
      <p:ext uri="{BB962C8B-B14F-4D97-AF65-F5344CB8AC3E}">
        <p14:creationId xmlns:p14="http://schemas.microsoft.com/office/powerpoint/2010/main" val="378133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33053-A8FD-5DFA-CAA4-BFA2AFB77702}"/>
              </a:ext>
            </a:extLst>
          </p:cNvPr>
          <p:cNvSpPr>
            <a:spLocks noGrp="1"/>
          </p:cNvSpPr>
          <p:nvPr>
            <p:ph type="title"/>
          </p:nvPr>
        </p:nvSpPr>
        <p:spPr>
          <a:xfrm>
            <a:off x="152400" y="228600"/>
            <a:ext cx="8096250" cy="515526"/>
          </a:xfrm>
        </p:spPr>
        <p:txBody>
          <a:bodyPr/>
          <a:lstStyle/>
          <a:p>
            <a:pPr marL="457200" indent="-457200">
              <a:buFont typeface="Wingdings" panose="05000000000000000000" pitchFamily="2" charset="2"/>
              <a:buChar char="Ø"/>
            </a:pPr>
            <a:r>
              <a:rPr lang="en-IN" dirty="0"/>
              <a:t>Network Design &amp; Security Controls</a:t>
            </a:r>
          </a:p>
        </p:txBody>
      </p:sp>
      <p:sp>
        <p:nvSpPr>
          <p:cNvPr id="3" name="Text Placeholder 2">
            <a:extLst>
              <a:ext uri="{FF2B5EF4-FFF2-40B4-BE49-F238E27FC236}">
                <a16:creationId xmlns:a16="http://schemas.microsoft.com/office/drawing/2014/main" id="{D86202A6-C0A8-1679-E531-A71416DE683E}"/>
              </a:ext>
            </a:extLst>
          </p:cNvPr>
          <p:cNvSpPr>
            <a:spLocks noGrp="1"/>
          </p:cNvSpPr>
          <p:nvPr>
            <p:ph type="body" idx="1"/>
          </p:nvPr>
        </p:nvSpPr>
        <p:spPr>
          <a:xfrm>
            <a:off x="533400" y="1143000"/>
            <a:ext cx="10972800" cy="5539978"/>
          </a:xfrm>
        </p:spPr>
        <p:txBody>
          <a:bodyPr/>
          <a:lstStyle/>
          <a:p>
            <a:r>
              <a:rPr lang="en-IN" b="1" dirty="0"/>
              <a:t>VPN Subnet:</a:t>
            </a:r>
            <a:r>
              <a:rPr lang="en-IN" dirty="0"/>
              <a:t> 10.200.0.0/22</a:t>
            </a:r>
          </a:p>
          <a:p>
            <a:endParaRPr lang="en-IN" dirty="0"/>
          </a:p>
          <a:p>
            <a:r>
              <a:rPr lang="en-IN" b="1" dirty="0"/>
              <a:t>Internal Segments:</a:t>
            </a:r>
            <a:endParaRPr lang="en-IN" dirty="0"/>
          </a:p>
          <a:p>
            <a:pPr lvl="1"/>
            <a:r>
              <a:rPr lang="en-IN" dirty="0" err="1"/>
              <a:t>Mgmt</a:t>
            </a:r>
            <a:r>
              <a:rPr lang="en-IN" dirty="0"/>
              <a:t>: 10.10.0.0/24</a:t>
            </a:r>
          </a:p>
          <a:p>
            <a:pPr lvl="1"/>
            <a:r>
              <a:rPr lang="en-IN" dirty="0"/>
              <a:t>Apps: 10.10.1.0/24</a:t>
            </a:r>
          </a:p>
          <a:p>
            <a:pPr lvl="1"/>
            <a:r>
              <a:rPr lang="en-IN" dirty="0"/>
              <a:t>DB: 10.10.2.0/24</a:t>
            </a:r>
          </a:p>
          <a:p>
            <a:pPr lvl="1"/>
            <a:endParaRPr lang="en-IN" dirty="0"/>
          </a:p>
          <a:p>
            <a:r>
              <a:rPr lang="en-IN" b="1" dirty="0"/>
              <a:t>Split DNS</a:t>
            </a:r>
            <a:r>
              <a:rPr lang="en-IN" dirty="0"/>
              <a:t> for internal resolution</a:t>
            </a:r>
          </a:p>
          <a:p>
            <a:r>
              <a:rPr lang="en-IN" b="1" dirty="0"/>
              <a:t>Routing:</a:t>
            </a:r>
            <a:r>
              <a:rPr lang="en-IN" dirty="0"/>
              <a:t> Allow only required subnets via </a:t>
            </a:r>
            <a:r>
              <a:rPr lang="en-IN" dirty="0" err="1"/>
              <a:t>AllowedIPs</a:t>
            </a:r>
            <a:endParaRPr lang="en-IN" dirty="0"/>
          </a:p>
          <a:p>
            <a:endParaRPr lang="en-IN" dirty="0"/>
          </a:p>
          <a:p>
            <a:r>
              <a:rPr lang="en-IN" b="1" dirty="0"/>
              <a:t>Firewall Rules</a:t>
            </a:r>
          </a:p>
          <a:p>
            <a:r>
              <a:rPr lang="en-IN" dirty="0"/>
              <a:t>Default </a:t>
            </a:r>
            <a:r>
              <a:rPr lang="en-IN" b="1" dirty="0"/>
              <a:t>deny-all</a:t>
            </a:r>
            <a:endParaRPr lang="en-IN" dirty="0"/>
          </a:p>
          <a:p>
            <a:r>
              <a:rPr lang="en-IN" dirty="0"/>
              <a:t>Allow </a:t>
            </a:r>
            <a:r>
              <a:rPr lang="en-IN" b="1" dirty="0"/>
              <a:t>UDP 51820</a:t>
            </a:r>
            <a:r>
              <a:rPr lang="en-IN" dirty="0"/>
              <a:t> (</a:t>
            </a:r>
            <a:r>
              <a:rPr lang="en-IN" dirty="0" err="1"/>
              <a:t>WireGuard</a:t>
            </a:r>
            <a:r>
              <a:rPr lang="en-IN" dirty="0"/>
              <a:t>)</a:t>
            </a:r>
          </a:p>
          <a:p>
            <a:r>
              <a:rPr lang="en-IN" dirty="0"/>
              <a:t>VPN subnet → only approved internal services</a:t>
            </a:r>
          </a:p>
          <a:p>
            <a:r>
              <a:rPr lang="en-IN" dirty="0"/>
              <a:t>Admin access via </a:t>
            </a:r>
            <a:r>
              <a:rPr lang="en-IN" b="1" dirty="0"/>
              <a:t>bastion host only</a:t>
            </a:r>
            <a:endParaRPr lang="en-IN" dirty="0"/>
          </a:p>
          <a:p>
            <a:r>
              <a:rPr lang="en-IN" b="1" dirty="0"/>
              <a:t>Security Enhancements</a:t>
            </a:r>
          </a:p>
          <a:p>
            <a:r>
              <a:rPr lang="en-IN" dirty="0"/>
              <a:t>Mandatory </a:t>
            </a:r>
            <a:r>
              <a:rPr lang="en-IN" b="1" dirty="0"/>
              <a:t>MFA</a:t>
            </a:r>
            <a:endParaRPr lang="en-IN" dirty="0"/>
          </a:p>
          <a:p>
            <a:r>
              <a:rPr lang="en-IN" dirty="0"/>
              <a:t>Endpoint posture check (</a:t>
            </a:r>
            <a:r>
              <a:rPr lang="en-IN" b="1" dirty="0"/>
              <a:t>EDR/MDM</a:t>
            </a:r>
            <a:r>
              <a:rPr lang="en-IN" dirty="0"/>
              <a:t>)</a:t>
            </a:r>
          </a:p>
          <a:p>
            <a:r>
              <a:rPr lang="en-IN" dirty="0"/>
              <a:t>Full logging to </a:t>
            </a:r>
            <a:r>
              <a:rPr lang="en-IN" b="1" dirty="0"/>
              <a:t>SIEM</a:t>
            </a:r>
            <a:r>
              <a:rPr lang="en-IN" dirty="0"/>
              <a:t> (VPN, auth, firewall)</a:t>
            </a:r>
          </a:p>
          <a:p>
            <a:endParaRPr lang="en-IN" dirty="0"/>
          </a:p>
        </p:txBody>
      </p:sp>
    </p:spTree>
    <p:extLst>
      <p:ext uri="{BB962C8B-B14F-4D97-AF65-F5344CB8AC3E}">
        <p14:creationId xmlns:p14="http://schemas.microsoft.com/office/powerpoint/2010/main" val="3384331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36BFF-B173-474B-E136-B40070DA438F}"/>
              </a:ext>
            </a:extLst>
          </p:cNvPr>
          <p:cNvSpPr>
            <a:spLocks noGrp="1"/>
          </p:cNvSpPr>
          <p:nvPr>
            <p:ph type="title"/>
          </p:nvPr>
        </p:nvSpPr>
        <p:spPr>
          <a:xfrm>
            <a:off x="666750" y="588644"/>
            <a:ext cx="8020050" cy="1031051"/>
          </a:xfrm>
        </p:spPr>
        <p:txBody>
          <a:bodyPr/>
          <a:lstStyle/>
          <a:p>
            <a:r>
              <a:rPr lang="en-IN" u="sng" dirty="0"/>
              <a:t>Encryption and Authentication Plan</a:t>
            </a:r>
            <a:br>
              <a:rPr lang="en-IN" dirty="0"/>
            </a:br>
            <a:endParaRPr lang="en-IN" dirty="0"/>
          </a:p>
        </p:txBody>
      </p:sp>
      <p:sp>
        <p:nvSpPr>
          <p:cNvPr id="3" name="Text Placeholder 2">
            <a:extLst>
              <a:ext uri="{FF2B5EF4-FFF2-40B4-BE49-F238E27FC236}">
                <a16:creationId xmlns:a16="http://schemas.microsoft.com/office/drawing/2014/main" id="{B28B12FE-FD4C-16BE-3600-2EFC00BFF3FD}"/>
              </a:ext>
            </a:extLst>
          </p:cNvPr>
          <p:cNvSpPr>
            <a:spLocks noGrp="1"/>
          </p:cNvSpPr>
          <p:nvPr>
            <p:ph type="body" idx="1"/>
          </p:nvPr>
        </p:nvSpPr>
        <p:spPr>
          <a:xfrm>
            <a:off x="381000" y="1447800"/>
            <a:ext cx="10972800" cy="8032968"/>
          </a:xfrm>
        </p:spPr>
        <p:txBody>
          <a:bodyPr/>
          <a:lstStyle/>
          <a:p>
            <a:r>
              <a:rPr lang="en-US" dirty="0"/>
              <a:t>An enterprise encryption strategy ensures confidentiality, integrity, authenticity, and non-repudiation of data across the </a:t>
            </a:r>
            <a:r>
              <a:rPr lang="en-US" dirty="0" err="1"/>
              <a:t>organisation</a:t>
            </a:r>
            <a:r>
              <a:rPr lang="en-US" dirty="0"/>
              <a:t>. It standardizes how data is encrypted </a:t>
            </a:r>
            <a:r>
              <a:rPr lang="en-US" b="1" dirty="0"/>
              <a:t>in transit</a:t>
            </a:r>
            <a:r>
              <a:rPr lang="en-US" dirty="0"/>
              <a:t>, </a:t>
            </a:r>
            <a:r>
              <a:rPr lang="en-US" b="1" dirty="0"/>
              <a:t>at rest</a:t>
            </a:r>
            <a:r>
              <a:rPr lang="en-US" dirty="0"/>
              <a:t>, and </a:t>
            </a:r>
            <a:r>
              <a:rPr lang="en-US" b="1" dirty="0"/>
              <a:t>during processing</a:t>
            </a:r>
            <a:r>
              <a:rPr lang="en-US" dirty="0"/>
              <a:t>, including key management and compliance enforcement.</a:t>
            </a:r>
          </a:p>
          <a:p>
            <a:r>
              <a:rPr lang="en-IN" b="1" dirty="0"/>
              <a:t>Chosen Protocols</a:t>
            </a:r>
            <a:endParaRPr lang="en-IN" dirty="0"/>
          </a:p>
          <a:p>
            <a:r>
              <a:rPr lang="en-IN" b="1" dirty="0" err="1"/>
              <a:t>WireGuard</a:t>
            </a:r>
            <a:r>
              <a:rPr lang="en-IN" b="1" dirty="0"/>
              <a:t> VPN – ChaCha20 &amp; Poly1305</a:t>
            </a:r>
            <a:endParaRPr lang="en-IN" dirty="0"/>
          </a:p>
          <a:p>
            <a:pPr lvl="1"/>
            <a:r>
              <a:rPr lang="en-IN" dirty="0"/>
              <a:t>High-speed, modern encryption</a:t>
            </a:r>
          </a:p>
          <a:p>
            <a:pPr lvl="1"/>
            <a:r>
              <a:rPr lang="en-IN" dirty="0"/>
              <a:t>Perfect forward secrecy (PFS)</a:t>
            </a:r>
          </a:p>
          <a:p>
            <a:r>
              <a:rPr lang="en-IN" b="1" dirty="0"/>
              <a:t>TLS 1.3 for Applications</a:t>
            </a:r>
            <a:endParaRPr lang="en-IN" dirty="0"/>
          </a:p>
          <a:p>
            <a:pPr lvl="1"/>
            <a:r>
              <a:rPr lang="en-IN" dirty="0"/>
              <a:t>Strong cipher suites only (AES-256-GCM / ChaCha20)</a:t>
            </a:r>
          </a:p>
          <a:p>
            <a:pPr lvl="1"/>
            <a:r>
              <a:rPr lang="en-IN" dirty="0"/>
              <a:t>Enforced HSTS, certificate pinning</a:t>
            </a:r>
          </a:p>
          <a:p>
            <a:r>
              <a:rPr lang="en-IN" b="1" dirty="0"/>
              <a:t>Database Encryption</a:t>
            </a:r>
            <a:endParaRPr lang="en-IN" dirty="0"/>
          </a:p>
          <a:p>
            <a:pPr lvl="1"/>
            <a:r>
              <a:rPr lang="en-IN" dirty="0"/>
              <a:t>AES-256 at rest (Transparent Data Encryption – TDE)</a:t>
            </a:r>
          </a:p>
          <a:p>
            <a:pPr lvl="1"/>
            <a:r>
              <a:rPr lang="en-IN" dirty="0"/>
              <a:t>Encrypted backups + key rotation policy</a:t>
            </a:r>
          </a:p>
          <a:p>
            <a:r>
              <a:rPr lang="en-IN" b="1" dirty="0"/>
              <a:t>Key Management</a:t>
            </a:r>
            <a:endParaRPr lang="en-IN" dirty="0"/>
          </a:p>
          <a:p>
            <a:r>
              <a:rPr lang="en-IN" dirty="0"/>
              <a:t>Centralized KMS (AWS KMS / </a:t>
            </a:r>
            <a:r>
              <a:rPr lang="en-IN" dirty="0" err="1"/>
              <a:t>HashiCorp</a:t>
            </a:r>
            <a:r>
              <a:rPr lang="en-IN" dirty="0"/>
              <a:t> Vault)</a:t>
            </a:r>
          </a:p>
          <a:p>
            <a:r>
              <a:rPr lang="en-IN" dirty="0"/>
              <a:t>Rotate keys every 90 days</a:t>
            </a:r>
          </a:p>
          <a:p>
            <a:r>
              <a:rPr lang="en-IN" dirty="0"/>
              <a:t>Disable weak ciphers and deprecated protocols (SSL, TLS 1.0/1.1)</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4" name="Picture 3" descr="A diagram of a network&#10;&#10;AI-generated content may be incorrect.">
            <a:extLst>
              <a:ext uri="{FF2B5EF4-FFF2-40B4-BE49-F238E27FC236}">
                <a16:creationId xmlns:a16="http://schemas.microsoft.com/office/drawing/2014/main" id="{48F67581-44BA-53FE-4FAC-E4018E68EC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2133600"/>
            <a:ext cx="2895600" cy="3957320"/>
          </a:xfrm>
          <a:prstGeom prst="rect">
            <a:avLst/>
          </a:prstGeom>
        </p:spPr>
      </p:pic>
    </p:spTree>
    <p:extLst>
      <p:ext uri="{BB962C8B-B14F-4D97-AF65-F5344CB8AC3E}">
        <p14:creationId xmlns:p14="http://schemas.microsoft.com/office/powerpoint/2010/main" val="326682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A4F6-9E0C-B25C-45AF-DB2AA8D0AA6E}"/>
              </a:ext>
            </a:extLst>
          </p:cNvPr>
          <p:cNvSpPr>
            <a:spLocks noGrp="1"/>
          </p:cNvSpPr>
          <p:nvPr>
            <p:ph type="title"/>
          </p:nvPr>
        </p:nvSpPr>
        <p:spPr>
          <a:xfrm>
            <a:off x="666750" y="588645"/>
            <a:ext cx="9010650" cy="515526"/>
          </a:xfrm>
        </p:spPr>
        <p:txBody>
          <a:bodyPr/>
          <a:lstStyle/>
          <a:p>
            <a:pPr marL="457200" indent="-457200">
              <a:buFont typeface="Wingdings" panose="05000000000000000000" pitchFamily="2" charset="2"/>
              <a:buChar char="Ø"/>
            </a:pPr>
            <a:r>
              <a:rPr lang="en-US" dirty="0"/>
              <a:t>Authentication Plan (MFA + Access Control)</a:t>
            </a:r>
            <a:endParaRPr lang="en-IN" dirty="0"/>
          </a:p>
        </p:txBody>
      </p:sp>
      <p:sp>
        <p:nvSpPr>
          <p:cNvPr id="3" name="Text Placeholder 2">
            <a:extLst>
              <a:ext uri="{FF2B5EF4-FFF2-40B4-BE49-F238E27FC236}">
                <a16:creationId xmlns:a16="http://schemas.microsoft.com/office/drawing/2014/main" id="{5E672962-9AA3-0032-F94B-2BD579E622EE}"/>
              </a:ext>
            </a:extLst>
          </p:cNvPr>
          <p:cNvSpPr>
            <a:spLocks noGrp="1"/>
          </p:cNvSpPr>
          <p:nvPr>
            <p:ph type="body" idx="1"/>
          </p:nvPr>
        </p:nvSpPr>
        <p:spPr>
          <a:xfrm>
            <a:off x="609600" y="1577340"/>
            <a:ext cx="10972800" cy="4708981"/>
          </a:xfrm>
        </p:spPr>
        <p:txBody>
          <a:bodyPr/>
          <a:lstStyle/>
          <a:p>
            <a:r>
              <a:rPr lang="en-IN" b="1" dirty="0"/>
              <a:t>Authentication Mechanisms                                                                                                  </a:t>
            </a:r>
            <a:r>
              <a:rPr lang="en-IN" dirty="0"/>
              <a:t>MFA Enforcement Flow</a:t>
            </a:r>
            <a:endParaRPr lang="en-IN" b="1" dirty="0"/>
          </a:p>
          <a:p>
            <a:r>
              <a:rPr lang="en-IN" b="1" dirty="0"/>
              <a:t>Primary Authentication:</a:t>
            </a:r>
            <a:r>
              <a:rPr lang="en-IN" dirty="0"/>
              <a:t> Identity Provider (Azure AD / Okta)       </a:t>
            </a:r>
          </a:p>
          <a:p>
            <a:r>
              <a:rPr lang="en-IN" b="1" dirty="0"/>
              <a:t>Multi-Factor Authentication:</a:t>
            </a:r>
            <a:endParaRPr lang="en-IN" dirty="0"/>
          </a:p>
          <a:p>
            <a:pPr lvl="1"/>
            <a:r>
              <a:rPr lang="en-IN" dirty="0"/>
              <a:t>TOTP (Google Authenticator / Authy)</a:t>
            </a:r>
          </a:p>
          <a:p>
            <a:pPr lvl="1"/>
            <a:r>
              <a:rPr lang="en-IN" dirty="0"/>
              <a:t>Push-based MFA (Microsoft Authenticator / Okta Verify)                                 </a:t>
            </a:r>
          </a:p>
          <a:p>
            <a:pPr lvl="1"/>
            <a:r>
              <a:rPr lang="en-IN" dirty="0"/>
              <a:t>Hardware Keys </a:t>
            </a:r>
            <a:r>
              <a:rPr lang="en-IN" b="1" dirty="0"/>
              <a:t>FIDO2 / YubiKey</a:t>
            </a:r>
            <a:endParaRPr lang="en-IN" dirty="0"/>
          </a:p>
          <a:p>
            <a:r>
              <a:rPr lang="en-IN" b="1" dirty="0"/>
              <a:t>Optional:</a:t>
            </a:r>
            <a:r>
              <a:rPr lang="en-IN" dirty="0"/>
              <a:t> Device Posture Check (EDR/MDM)</a:t>
            </a:r>
          </a:p>
          <a:p>
            <a:endParaRPr lang="en-IN" dirty="0"/>
          </a:p>
          <a:p>
            <a:r>
              <a:rPr lang="en-IN" b="1" dirty="0"/>
              <a:t>MFA / Authentication Configuration Guidelines</a:t>
            </a:r>
          </a:p>
          <a:p>
            <a:r>
              <a:rPr lang="en-IN" dirty="0"/>
              <a:t>Enforce MFA for </a:t>
            </a:r>
            <a:r>
              <a:rPr lang="en-IN" b="1" dirty="0"/>
              <a:t>all VPN connections</a:t>
            </a:r>
            <a:r>
              <a:rPr lang="en-IN" dirty="0"/>
              <a:t>.</a:t>
            </a:r>
          </a:p>
          <a:p>
            <a:r>
              <a:rPr lang="en-IN" dirty="0"/>
              <a:t>Enable </a:t>
            </a:r>
            <a:r>
              <a:rPr lang="en-IN" b="1" dirty="0"/>
              <a:t>Conditional Access</a:t>
            </a:r>
            <a:r>
              <a:rPr lang="en-IN" dirty="0"/>
              <a:t>:</a:t>
            </a:r>
          </a:p>
          <a:p>
            <a:pPr lvl="1"/>
            <a:r>
              <a:rPr lang="en-IN" dirty="0"/>
              <a:t>Block unknown geolocations</a:t>
            </a:r>
          </a:p>
          <a:p>
            <a:pPr lvl="1"/>
            <a:r>
              <a:rPr lang="en-IN" dirty="0"/>
              <a:t>Allow only compliant devices</a:t>
            </a:r>
          </a:p>
          <a:p>
            <a:r>
              <a:rPr lang="en-IN" dirty="0"/>
              <a:t>Use </a:t>
            </a:r>
            <a:r>
              <a:rPr lang="en-IN" b="1" dirty="0"/>
              <a:t>short-lived access tokens</a:t>
            </a:r>
            <a:r>
              <a:rPr lang="en-IN" dirty="0"/>
              <a:t> (max 8–12 hours).</a:t>
            </a:r>
          </a:p>
          <a:p>
            <a:r>
              <a:rPr lang="en-IN" dirty="0"/>
              <a:t>Map IdP groups → VPN access roles (e.g., </a:t>
            </a:r>
            <a:r>
              <a:rPr lang="en-IN" dirty="0" err="1"/>
              <a:t>vpn</a:t>
            </a:r>
            <a:r>
              <a:rPr lang="en-IN" dirty="0"/>
              <a:t>-user, </a:t>
            </a:r>
            <a:r>
              <a:rPr lang="en-IN" dirty="0" err="1"/>
              <a:t>vpn</a:t>
            </a:r>
            <a:r>
              <a:rPr lang="en-IN" dirty="0"/>
              <a:t>-admin).</a:t>
            </a:r>
          </a:p>
          <a:p>
            <a:endParaRPr lang="en-IN" dirty="0"/>
          </a:p>
          <a:p>
            <a:endParaRPr lang="en-IN" dirty="0"/>
          </a:p>
        </p:txBody>
      </p:sp>
      <p:pic>
        <p:nvPicPr>
          <p:cNvPr id="5" name="Picture 4" descr="A diagram of a network&#10;&#10;AI-generated content may be incorrect.">
            <a:extLst>
              <a:ext uri="{FF2B5EF4-FFF2-40B4-BE49-F238E27FC236}">
                <a16:creationId xmlns:a16="http://schemas.microsoft.com/office/drawing/2014/main" id="{2F17873D-6645-771E-6594-590070B93F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93100" y="1855380"/>
            <a:ext cx="2768600" cy="4152900"/>
          </a:xfrm>
          <a:prstGeom prst="rect">
            <a:avLst/>
          </a:prstGeom>
        </p:spPr>
      </p:pic>
    </p:spTree>
    <p:extLst>
      <p:ext uri="{BB962C8B-B14F-4D97-AF65-F5344CB8AC3E}">
        <p14:creationId xmlns:p14="http://schemas.microsoft.com/office/powerpoint/2010/main" val="3379117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2DFC0-8FA3-BB61-5E97-5329AA24127C}"/>
              </a:ext>
            </a:extLst>
          </p:cNvPr>
          <p:cNvSpPr>
            <a:spLocks noGrp="1"/>
          </p:cNvSpPr>
          <p:nvPr>
            <p:ph type="title"/>
          </p:nvPr>
        </p:nvSpPr>
        <p:spPr>
          <a:xfrm>
            <a:off x="666750" y="588644"/>
            <a:ext cx="6191250" cy="1031051"/>
          </a:xfrm>
        </p:spPr>
        <p:txBody>
          <a:bodyPr/>
          <a:lstStyle/>
          <a:p>
            <a:r>
              <a:rPr lang="en-IN" u="sng" dirty="0"/>
              <a:t>Endpoint Security Plan</a:t>
            </a:r>
            <a:br>
              <a:rPr lang="en-IN" dirty="0"/>
            </a:br>
            <a:endParaRPr lang="en-IN" dirty="0"/>
          </a:p>
        </p:txBody>
      </p:sp>
      <p:sp>
        <p:nvSpPr>
          <p:cNvPr id="3" name="Text Placeholder 2">
            <a:extLst>
              <a:ext uri="{FF2B5EF4-FFF2-40B4-BE49-F238E27FC236}">
                <a16:creationId xmlns:a16="http://schemas.microsoft.com/office/drawing/2014/main" id="{BEE16F65-3643-1818-EE5F-34785A79D578}"/>
              </a:ext>
            </a:extLst>
          </p:cNvPr>
          <p:cNvSpPr>
            <a:spLocks noGrp="1"/>
          </p:cNvSpPr>
          <p:nvPr>
            <p:ph type="body" idx="1"/>
          </p:nvPr>
        </p:nvSpPr>
        <p:spPr>
          <a:xfrm>
            <a:off x="457200" y="1371600"/>
            <a:ext cx="10972800" cy="4708981"/>
          </a:xfrm>
        </p:spPr>
        <p:txBody>
          <a:bodyPr/>
          <a:lstStyle/>
          <a:p>
            <a:pPr marL="285750" indent="-285750">
              <a:buFont typeface="Wingdings" panose="05000000000000000000" pitchFamily="2" charset="2"/>
              <a:buChar char="Ø"/>
            </a:pPr>
            <a:r>
              <a:rPr lang="en-IN" b="1" dirty="0"/>
              <a:t>Endpoint Protection Requirements</a:t>
            </a:r>
          </a:p>
          <a:p>
            <a:pPr marL="285750" indent="-285750">
              <a:buFont typeface="Arial" panose="020B0604020202020204" pitchFamily="34" charset="0"/>
              <a:buChar char="•"/>
            </a:pPr>
            <a:r>
              <a:rPr lang="en-IN" dirty="0"/>
              <a:t>Mandatory </a:t>
            </a:r>
            <a:r>
              <a:rPr lang="en-IN" b="1" dirty="0"/>
              <a:t>EDR/Antivirus</a:t>
            </a:r>
            <a:r>
              <a:rPr lang="en-IN" dirty="0"/>
              <a:t> (Defender, CrowdStrike, </a:t>
            </a:r>
            <a:r>
              <a:rPr lang="en-IN" dirty="0" err="1"/>
              <a:t>SentinelOne</a:t>
            </a:r>
            <a:r>
              <a:rPr lang="en-IN" dirty="0"/>
              <a:t>)</a:t>
            </a:r>
          </a:p>
          <a:p>
            <a:pPr marL="285750" indent="-285750">
              <a:buFont typeface="Arial" panose="020B0604020202020204" pitchFamily="34" charset="0"/>
              <a:buChar char="•"/>
            </a:pPr>
            <a:r>
              <a:rPr lang="en-IN" b="1" dirty="0"/>
              <a:t>Full Disk Encryption</a:t>
            </a:r>
            <a:r>
              <a:rPr lang="en-IN" dirty="0"/>
              <a:t> (BitLocker / </a:t>
            </a:r>
            <a:r>
              <a:rPr lang="en-IN" dirty="0" err="1"/>
              <a:t>FileVault</a:t>
            </a:r>
            <a:r>
              <a:rPr lang="en-IN" dirty="0"/>
              <a:t>)</a:t>
            </a:r>
          </a:p>
          <a:p>
            <a:pPr marL="285750" indent="-285750">
              <a:buFont typeface="Arial" panose="020B0604020202020204" pitchFamily="34" charset="0"/>
              <a:buChar char="•"/>
            </a:pPr>
            <a:r>
              <a:rPr lang="en-IN" b="1" dirty="0"/>
              <a:t>Auto Patch Management</a:t>
            </a:r>
            <a:r>
              <a:rPr lang="en-IN" dirty="0"/>
              <a:t> for OS &amp; apps</a:t>
            </a:r>
          </a:p>
          <a:p>
            <a:pPr marL="285750" indent="-285750">
              <a:buFont typeface="Arial" panose="020B0604020202020204" pitchFamily="34" charset="0"/>
              <a:buChar char="•"/>
            </a:pPr>
            <a:r>
              <a:rPr lang="en-IN" dirty="0"/>
              <a:t>Enforced </a:t>
            </a:r>
            <a:r>
              <a:rPr lang="en-IN" b="1" dirty="0"/>
              <a:t>device firewall</a:t>
            </a:r>
            <a:r>
              <a:rPr lang="en-IN" dirty="0"/>
              <a:t>, strong password, screen lock</a:t>
            </a:r>
          </a:p>
          <a:p>
            <a:endParaRPr lang="en-IN" dirty="0"/>
          </a:p>
          <a:p>
            <a:pPr marL="285750" indent="-285750">
              <a:buFont typeface="Wingdings" panose="05000000000000000000" pitchFamily="2" charset="2"/>
              <a:buChar char="Ø"/>
            </a:pPr>
            <a:r>
              <a:rPr lang="en-IN" b="1" dirty="0"/>
              <a:t>Compliance Checks (Before VPN Access)</a:t>
            </a:r>
          </a:p>
          <a:p>
            <a:pPr marL="285750" indent="-285750">
              <a:buFont typeface="Arial" panose="020B0604020202020204" pitchFamily="34" charset="0"/>
              <a:buChar char="•"/>
            </a:pPr>
            <a:r>
              <a:rPr lang="en-IN" dirty="0"/>
              <a:t>EDR active + real-time protection ON</a:t>
            </a:r>
          </a:p>
          <a:p>
            <a:pPr marL="285750" indent="-285750">
              <a:buFont typeface="Arial" panose="020B0604020202020204" pitchFamily="34" charset="0"/>
              <a:buChar char="•"/>
            </a:pPr>
            <a:r>
              <a:rPr lang="en-IN" dirty="0"/>
              <a:t>Disk encryption enabled</a:t>
            </a:r>
          </a:p>
          <a:p>
            <a:pPr marL="285750" indent="-285750">
              <a:buFont typeface="Arial" panose="020B0604020202020204" pitchFamily="34" charset="0"/>
              <a:buChar char="•"/>
            </a:pPr>
            <a:r>
              <a:rPr lang="en-IN" dirty="0"/>
              <a:t>OS fully updated (no critical patches pending)</a:t>
            </a:r>
          </a:p>
          <a:p>
            <a:pPr marL="285750" indent="-285750">
              <a:buFont typeface="Arial" panose="020B0604020202020204" pitchFamily="34" charset="0"/>
              <a:buChar char="•"/>
            </a:pPr>
            <a:r>
              <a:rPr lang="en-IN" dirty="0"/>
              <a:t>No malware or suspicious activity detected</a:t>
            </a:r>
          </a:p>
          <a:p>
            <a:endParaRPr lang="en-IN" dirty="0"/>
          </a:p>
          <a:p>
            <a:pPr marL="285750" indent="-285750">
              <a:buFont typeface="Wingdings" panose="05000000000000000000" pitchFamily="2" charset="2"/>
              <a:buChar char="Ø"/>
            </a:pPr>
            <a:r>
              <a:rPr lang="en-IN" b="1" dirty="0"/>
              <a:t>Deployment Guidelines</a:t>
            </a:r>
          </a:p>
          <a:p>
            <a:pPr marL="285750" indent="-285750">
              <a:buFont typeface="Arial" panose="020B0604020202020204" pitchFamily="34" charset="0"/>
              <a:buChar char="•"/>
            </a:pPr>
            <a:r>
              <a:rPr lang="en-IN" dirty="0"/>
              <a:t>Install EDR agent before enabling remote access</a:t>
            </a:r>
          </a:p>
          <a:p>
            <a:pPr marL="285750" indent="-285750">
              <a:buFont typeface="Arial" panose="020B0604020202020204" pitchFamily="34" charset="0"/>
              <a:buChar char="•"/>
            </a:pPr>
            <a:r>
              <a:rPr lang="en-IN" dirty="0"/>
              <a:t>Auto-</a:t>
            </a:r>
            <a:r>
              <a:rPr lang="en-IN" dirty="0" err="1"/>
              <a:t>enroll</a:t>
            </a:r>
            <a:r>
              <a:rPr lang="en-IN" dirty="0"/>
              <a:t> devices in </a:t>
            </a:r>
            <a:r>
              <a:rPr lang="en-IN" b="1" dirty="0"/>
              <a:t>MDM/Intune</a:t>
            </a:r>
            <a:endParaRPr lang="en-IN" dirty="0"/>
          </a:p>
          <a:p>
            <a:pPr marL="285750" indent="-285750">
              <a:buFont typeface="Arial" panose="020B0604020202020204" pitchFamily="34" charset="0"/>
              <a:buChar char="•"/>
            </a:pPr>
            <a:r>
              <a:rPr lang="en-IN" dirty="0"/>
              <a:t>Non-compliant devices → </a:t>
            </a:r>
            <a:r>
              <a:rPr lang="en-IN" i="1" dirty="0"/>
              <a:t>blocked or quarantined VLAN</a:t>
            </a:r>
            <a:endParaRPr lang="en-IN" dirty="0"/>
          </a:p>
          <a:p>
            <a:endParaRPr lang="en-IN" dirty="0"/>
          </a:p>
        </p:txBody>
      </p:sp>
    </p:spTree>
    <p:extLst>
      <p:ext uri="{BB962C8B-B14F-4D97-AF65-F5344CB8AC3E}">
        <p14:creationId xmlns:p14="http://schemas.microsoft.com/office/powerpoint/2010/main" val="412841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37A1-CA7D-5320-DCF3-B1EB9E7BCCE8}"/>
              </a:ext>
            </a:extLst>
          </p:cNvPr>
          <p:cNvSpPr>
            <a:spLocks noGrp="1"/>
          </p:cNvSpPr>
          <p:nvPr>
            <p:ph type="title"/>
          </p:nvPr>
        </p:nvSpPr>
        <p:spPr>
          <a:xfrm>
            <a:off x="666750" y="588644"/>
            <a:ext cx="7258050" cy="1031051"/>
          </a:xfrm>
        </p:spPr>
        <p:txBody>
          <a:bodyPr/>
          <a:lstStyle/>
          <a:p>
            <a:r>
              <a:rPr lang="en-IN" u="sng" dirty="0"/>
              <a:t>Network Access Control Strategy</a:t>
            </a:r>
            <a:br>
              <a:rPr lang="en-IN" dirty="0"/>
            </a:br>
            <a:endParaRPr lang="en-IN" dirty="0"/>
          </a:p>
        </p:txBody>
      </p:sp>
      <p:sp>
        <p:nvSpPr>
          <p:cNvPr id="3" name="Text Placeholder 2">
            <a:extLst>
              <a:ext uri="{FF2B5EF4-FFF2-40B4-BE49-F238E27FC236}">
                <a16:creationId xmlns:a16="http://schemas.microsoft.com/office/drawing/2014/main" id="{ADA74114-F5EF-979A-DC45-822B7B177D57}"/>
              </a:ext>
            </a:extLst>
          </p:cNvPr>
          <p:cNvSpPr>
            <a:spLocks noGrp="1"/>
          </p:cNvSpPr>
          <p:nvPr>
            <p:ph type="body" idx="1"/>
          </p:nvPr>
        </p:nvSpPr>
        <p:spPr>
          <a:xfrm>
            <a:off x="609600" y="1577340"/>
            <a:ext cx="10972800" cy="3877985"/>
          </a:xfrm>
        </p:spPr>
        <p:txBody>
          <a:bodyPr/>
          <a:lstStyle/>
          <a:p>
            <a:pPr marL="285750" indent="-285750">
              <a:buFont typeface="Wingdings" panose="05000000000000000000" pitchFamily="2" charset="2"/>
              <a:buChar char="Ø"/>
            </a:pPr>
            <a:r>
              <a:rPr lang="en-IN" b="1" dirty="0"/>
              <a:t>Zero Trust Security</a:t>
            </a:r>
          </a:p>
          <a:p>
            <a:endParaRPr lang="en-IN" b="1" dirty="0"/>
          </a:p>
          <a:p>
            <a:pPr marL="285750" indent="-285750">
              <a:buFont typeface="Arial" panose="020B0604020202020204" pitchFamily="34" charset="0"/>
              <a:buChar char="•"/>
            </a:pPr>
            <a:r>
              <a:rPr lang="en-IN" dirty="0"/>
              <a:t>Never trust, always verify</a:t>
            </a:r>
          </a:p>
          <a:p>
            <a:pPr marL="285750" indent="-285750">
              <a:buFont typeface="Arial" panose="020B0604020202020204" pitchFamily="34" charset="0"/>
              <a:buChar char="•"/>
            </a:pPr>
            <a:r>
              <a:rPr lang="en-IN" dirty="0"/>
              <a:t>Identity + device posture–based access</a:t>
            </a:r>
          </a:p>
          <a:p>
            <a:pPr marL="285750" indent="-285750">
              <a:buFont typeface="Arial" panose="020B0604020202020204" pitchFamily="34" charset="0"/>
              <a:buChar char="•"/>
            </a:pPr>
            <a:r>
              <a:rPr lang="en-IN" dirty="0"/>
              <a:t>Continuous authentication &amp; authorization</a:t>
            </a:r>
          </a:p>
          <a:p>
            <a:pPr marL="285750" indent="-285750">
              <a:buFont typeface="Arial" panose="020B0604020202020204" pitchFamily="34" charset="0"/>
              <a:buChar char="•"/>
            </a:pPr>
            <a:r>
              <a:rPr lang="en-IN" dirty="0"/>
              <a:t>Least-privilege access enforced across network</a:t>
            </a:r>
          </a:p>
          <a:p>
            <a:endParaRPr lang="en-IN" dirty="0"/>
          </a:p>
          <a:p>
            <a:pPr marL="285750" indent="-285750">
              <a:buFont typeface="Wingdings" panose="05000000000000000000" pitchFamily="2" charset="2"/>
              <a:buChar char="Ø"/>
            </a:pPr>
            <a:r>
              <a:rPr lang="en-IN" b="1" dirty="0"/>
              <a:t>Network Segmentation</a:t>
            </a:r>
          </a:p>
          <a:p>
            <a:endParaRPr lang="en-IN" b="1" dirty="0"/>
          </a:p>
          <a:p>
            <a:pPr marL="285750" indent="-285750">
              <a:buFont typeface="Arial" panose="020B0604020202020204" pitchFamily="34" charset="0"/>
              <a:buChar char="•"/>
            </a:pPr>
            <a:r>
              <a:rPr lang="en-IN" dirty="0"/>
              <a:t>Separate zones: </a:t>
            </a:r>
            <a:r>
              <a:rPr lang="en-IN" dirty="0" err="1"/>
              <a:t>Mgmt</a:t>
            </a:r>
            <a:r>
              <a:rPr lang="en-IN" dirty="0"/>
              <a:t>, Apps, DB, Guest/IoT</a:t>
            </a:r>
          </a:p>
          <a:p>
            <a:pPr marL="285750" indent="-285750">
              <a:buFont typeface="Arial" panose="020B0604020202020204" pitchFamily="34" charset="0"/>
              <a:buChar char="•"/>
            </a:pPr>
            <a:r>
              <a:rPr lang="en-IN" dirty="0"/>
              <a:t>Strict ACLs between segments</a:t>
            </a:r>
          </a:p>
          <a:p>
            <a:pPr marL="285750" indent="-285750">
              <a:buFont typeface="Arial" panose="020B0604020202020204" pitchFamily="34" charset="0"/>
              <a:buChar char="•"/>
            </a:pPr>
            <a:r>
              <a:rPr lang="en-IN" dirty="0"/>
              <a:t>East-West traffic allowed only through inspected paths</a:t>
            </a:r>
          </a:p>
          <a:p>
            <a:pPr marL="285750" indent="-285750">
              <a:buFont typeface="Arial" panose="020B0604020202020204" pitchFamily="34" charset="0"/>
              <a:buChar char="•"/>
            </a:pPr>
            <a:r>
              <a:rPr lang="en-IN" dirty="0"/>
              <a:t>Micro-segmentation using firewall/SDN/service mesh</a:t>
            </a:r>
          </a:p>
          <a:p>
            <a:endParaRPr lang="en-IN" dirty="0"/>
          </a:p>
        </p:txBody>
      </p:sp>
    </p:spTree>
    <p:extLst>
      <p:ext uri="{BB962C8B-B14F-4D97-AF65-F5344CB8AC3E}">
        <p14:creationId xmlns:p14="http://schemas.microsoft.com/office/powerpoint/2010/main" val="3770312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ACCCCB-6AC8-FF7E-2BF3-EF15FB1ADEFC}"/>
              </a:ext>
            </a:extLst>
          </p:cNvPr>
          <p:cNvSpPr>
            <a:spLocks noGrp="1"/>
          </p:cNvSpPr>
          <p:nvPr>
            <p:ph type="body" idx="1"/>
          </p:nvPr>
        </p:nvSpPr>
        <p:spPr>
          <a:xfrm>
            <a:off x="381000" y="1066800"/>
            <a:ext cx="10972800" cy="3323987"/>
          </a:xfrm>
        </p:spPr>
        <p:txBody>
          <a:bodyPr/>
          <a:lstStyle/>
          <a:p>
            <a:pPr marL="285750" indent="-285750" algn="l">
              <a:buFont typeface="Wingdings" panose="05000000000000000000" pitchFamily="2" charset="2"/>
              <a:buChar char="Ø"/>
            </a:pPr>
            <a:r>
              <a:rPr lang="en-IN" b="1" dirty="0"/>
              <a:t>Access Control (NAC)</a:t>
            </a:r>
          </a:p>
          <a:p>
            <a:pPr algn="l"/>
            <a:endParaRPr lang="en-IN" b="1" dirty="0"/>
          </a:p>
          <a:p>
            <a:pPr marL="285750" indent="-285750" algn="l">
              <a:buFont typeface="Arial" panose="020B0604020202020204" pitchFamily="34" charset="0"/>
              <a:buChar char="•"/>
            </a:pPr>
            <a:r>
              <a:rPr lang="en-IN" dirty="0"/>
              <a:t>802.1X for wired/wireless</a:t>
            </a:r>
          </a:p>
          <a:p>
            <a:pPr marL="285750" indent="-285750" algn="l">
              <a:buFont typeface="Arial" panose="020B0604020202020204" pitchFamily="34" charset="0"/>
              <a:buChar char="•"/>
            </a:pPr>
            <a:r>
              <a:rPr lang="en-IN" dirty="0"/>
              <a:t>NAC tools: Cisco ISE / </a:t>
            </a:r>
            <a:r>
              <a:rPr lang="en-IN" dirty="0" err="1"/>
              <a:t>FortiNAC</a:t>
            </a:r>
            <a:r>
              <a:rPr lang="en-IN" dirty="0"/>
              <a:t> / Aruba ClearPass</a:t>
            </a:r>
          </a:p>
          <a:p>
            <a:pPr marL="285750" indent="-285750" algn="l">
              <a:buFont typeface="Arial" panose="020B0604020202020204" pitchFamily="34" charset="0"/>
              <a:buChar char="•"/>
            </a:pPr>
            <a:r>
              <a:rPr lang="en-IN" dirty="0"/>
              <a:t>Non-compliant devices → quarantine VLAN</a:t>
            </a:r>
          </a:p>
          <a:p>
            <a:pPr marL="285750" indent="-285750" algn="l">
              <a:buFont typeface="Arial" panose="020B0604020202020204" pitchFamily="34" charset="0"/>
              <a:buChar char="•"/>
            </a:pPr>
            <a:r>
              <a:rPr lang="en-IN" dirty="0"/>
              <a:t>Policies based on user + device + compliance state</a:t>
            </a:r>
          </a:p>
          <a:p>
            <a:pPr algn="l"/>
            <a:endParaRPr lang="en-IN" dirty="0"/>
          </a:p>
          <a:p>
            <a:pPr marL="285750" indent="-285750" algn="l">
              <a:buFont typeface="Wingdings" panose="05000000000000000000" pitchFamily="2" charset="2"/>
              <a:buChar char="Ø"/>
            </a:pPr>
            <a:r>
              <a:rPr lang="en-IN" b="1" dirty="0"/>
              <a:t>Monitoring</a:t>
            </a:r>
          </a:p>
          <a:p>
            <a:pPr algn="l"/>
            <a:endParaRPr lang="en-IN" b="1" dirty="0"/>
          </a:p>
          <a:p>
            <a:pPr marL="285750" indent="-285750" algn="l">
              <a:buFont typeface="Arial" panose="020B0604020202020204" pitchFamily="34" charset="0"/>
              <a:buChar char="•"/>
            </a:pPr>
            <a:r>
              <a:rPr lang="en-IN" dirty="0"/>
              <a:t>SIEM logging of all access attempts</a:t>
            </a:r>
          </a:p>
          <a:p>
            <a:pPr marL="285750" indent="-285750" algn="l">
              <a:buFont typeface="Arial" panose="020B0604020202020204" pitchFamily="34" charset="0"/>
              <a:buChar char="•"/>
            </a:pPr>
            <a:r>
              <a:rPr lang="en-IN" dirty="0"/>
              <a:t>Real-time alerts for posture failures</a:t>
            </a:r>
          </a:p>
          <a:p>
            <a:pPr marL="285750" indent="-285750" algn="l">
              <a:buFont typeface="Arial" panose="020B0604020202020204" pitchFamily="34" charset="0"/>
              <a:buChar char="•"/>
            </a:pPr>
            <a:r>
              <a:rPr lang="en-IN" dirty="0"/>
              <a:t>ZTNA gateways for continuous session validation</a:t>
            </a:r>
          </a:p>
        </p:txBody>
      </p:sp>
    </p:spTree>
    <p:extLst>
      <p:ext uri="{BB962C8B-B14F-4D97-AF65-F5344CB8AC3E}">
        <p14:creationId xmlns:p14="http://schemas.microsoft.com/office/powerpoint/2010/main" val="1499683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E618-27C6-7C0E-DE9A-CBDE151381B0}"/>
              </a:ext>
            </a:extLst>
          </p:cNvPr>
          <p:cNvSpPr>
            <a:spLocks noGrp="1"/>
          </p:cNvSpPr>
          <p:nvPr>
            <p:ph type="title"/>
          </p:nvPr>
        </p:nvSpPr>
        <p:spPr>
          <a:xfrm>
            <a:off x="666750" y="588644"/>
            <a:ext cx="8020050" cy="1031051"/>
          </a:xfrm>
        </p:spPr>
        <p:txBody>
          <a:bodyPr/>
          <a:lstStyle/>
          <a:p>
            <a:r>
              <a:rPr lang="en-US" u="sng" dirty="0"/>
              <a:t>Secure Remote Access Tools Configuration</a:t>
            </a:r>
            <a:br>
              <a:rPr lang="en-US" dirty="0"/>
            </a:br>
            <a:endParaRPr lang="en-IN" dirty="0"/>
          </a:p>
        </p:txBody>
      </p:sp>
      <p:sp>
        <p:nvSpPr>
          <p:cNvPr id="3" name="Text Placeholder 2">
            <a:extLst>
              <a:ext uri="{FF2B5EF4-FFF2-40B4-BE49-F238E27FC236}">
                <a16:creationId xmlns:a16="http://schemas.microsoft.com/office/drawing/2014/main" id="{D74E4DE3-0DD4-CD41-2593-69968ED3B2B2}"/>
              </a:ext>
            </a:extLst>
          </p:cNvPr>
          <p:cNvSpPr>
            <a:spLocks noGrp="1"/>
          </p:cNvSpPr>
          <p:nvPr>
            <p:ph type="body" idx="1"/>
          </p:nvPr>
        </p:nvSpPr>
        <p:spPr>
          <a:xfrm>
            <a:off x="609600" y="1577340"/>
            <a:ext cx="10972800" cy="3877985"/>
          </a:xfrm>
        </p:spPr>
        <p:txBody>
          <a:bodyPr/>
          <a:lstStyle/>
          <a:p>
            <a:pPr marL="285750" indent="-285750">
              <a:buFont typeface="Wingdings" panose="05000000000000000000" pitchFamily="2" charset="2"/>
              <a:buChar char="Ø"/>
            </a:pPr>
            <a:r>
              <a:rPr lang="en-IN" b="1" dirty="0"/>
              <a:t>Remote Desktop Services</a:t>
            </a:r>
          </a:p>
          <a:p>
            <a:endParaRPr lang="en-IN" dirty="0"/>
          </a:p>
          <a:p>
            <a:pPr marL="285750" indent="-285750">
              <a:buFont typeface="Arial" panose="020B0604020202020204" pitchFamily="34" charset="0"/>
              <a:buChar char="•"/>
            </a:pPr>
            <a:r>
              <a:rPr lang="en-IN" dirty="0"/>
              <a:t>Use hardened RDP or equivalent</a:t>
            </a:r>
          </a:p>
          <a:p>
            <a:pPr marL="285750" indent="-285750">
              <a:buFont typeface="Arial" panose="020B0604020202020204" pitchFamily="34" charset="0"/>
              <a:buChar char="•"/>
            </a:pPr>
            <a:r>
              <a:rPr lang="en-IN" dirty="0"/>
              <a:t>Enforce MFA + Network Level Authentication (NLA)</a:t>
            </a:r>
          </a:p>
          <a:p>
            <a:pPr marL="285750" indent="-285750">
              <a:buFont typeface="Arial" panose="020B0604020202020204" pitchFamily="34" charset="0"/>
              <a:buChar char="•"/>
            </a:pPr>
            <a:r>
              <a:rPr lang="en-IN" dirty="0"/>
              <a:t>Restrict access via VPN + firewall rules</a:t>
            </a:r>
          </a:p>
          <a:p>
            <a:pPr marL="285750" indent="-285750">
              <a:buFont typeface="Arial" panose="020B0604020202020204" pitchFamily="34" charset="0"/>
              <a:buChar char="•"/>
            </a:pPr>
            <a:r>
              <a:rPr lang="en-IN" dirty="0"/>
              <a:t>Enable session logging &amp; clipboard/device redirection control</a:t>
            </a:r>
          </a:p>
          <a:p>
            <a:endParaRPr lang="en-IN" dirty="0"/>
          </a:p>
          <a:p>
            <a:pPr marL="285750" indent="-285750">
              <a:buFont typeface="Wingdings" panose="05000000000000000000" pitchFamily="2" charset="2"/>
              <a:buChar char="Ø"/>
            </a:pPr>
            <a:r>
              <a:rPr lang="en-IN" b="1" dirty="0"/>
              <a:t>Secure File Sharing</a:t>
            </a:r>
          </a:p>
          <a:p>
            <a:endParaRPr lang="en-IN" dirty="0"/>
          </a:p>
          <a:p>
            <a:pPr marL="285750" indent="-285750">
              <a:buFont typeface="Arial" panose="020B0604020202020204" pitchFamily="34" charset="0"/>
              <a:buChar char="•"/>
            </a:pPr>
            <a:r>
              <a:rPr lang="en-IN" dirty="0"/>
              <a:t>Use encrypted file-sharing platforms (e.g., SharePoint, OneDrive, </a:t>
            </a:r>
            <a:r>
              <a:rPr lang="en-IN" dirty="0" err="1"/>
              <a:t>Nextcloud</a:t>
            </a:r>
            <a:r>
              <a:rPr lang="en-IN" dirty="0"/>
              <a:t>)</a:t>
            </a:r>
          </a:p>
          <a:p>
            <a:pPr marL="285750" indent="-285750">
              <a:buFont typeface="Arial" panose="020B0604020202020204" pitchFamily="34" charset="0"/>
              <a:buChar char="•"/>
            </a:pPr>
            <a:r>
              <a:rPr lang="en-IN" dirty="0"/>
              <a:t>Apply role-based access control (RBAC)</a:t>
            </a:r>
          </a:p>
          <a:p>
            <a:pPr marL="285750" indent="-285750">
              <a:buFont typeface="Arial" panose="020B0604020202020204" pitchFamily="34" charset="0"/>
              <a:buChar char="•"/>
            </a:pPr>
            <a:r>
              <a:rPr lang="en-IN" dirty="0"/>
              <a:t>Enforce DLP policies to prevent data leakage</a:t>
            </a:r>
          </a:p>
          <a:p>
            <a:pPr marL="285750" indent="-285750">
              <a:buFont typeface="Arial" panose="020B0604020202020204" pitchFamily="34" charset="0"/>
              <a:buChar char="•"/>
            </a:pPr>
            <a:r>
              <a:rPr lang="en-IN" dirty="0"/>
              <a:t>Enable audit logs and version control</a:t>
            </a:r>
          </a:p>
          <a:p>
            <a:endParaRPr lang="en-IN" dirty="0"/>
          </a:p>
        </p:txBody>
      </p:sp>
    </p:spTree>
    <p:extLst>
      <p:ext uri="{BB962C8B-B14F-4D97-AF65-F5344CB8AC3E}">
        <p14:creationId xmlns:p14="http://schemas.microsoft.com/office/powerpoint/2010/main" val="2224895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0212-A837-0AB5-406D-5482283A2DBF}"/>
              </a:ext>
            </a:extLst>
          </p:cNvPr>
          <p:cNvSpPr>
            <a:spLocks noGrp="1"/>
          </p:cNvSpPr>
          <p:nvPr>
            <p:ph type="title"/>
          </p:nvPr>
        </p:nvSpPr>
        <p:spPr>
          <a:xfrm>
            <a:off x="666750" y="588644"/>
            <a:ext cx="8401050" cy="1031051"/>
          </a:xfrm>
        </p:spPr>
        <p:txBody>
          <a:bodyPr/>
          <a:lstStyle/>
          <a:p>
            <a:r>
              <a:rPr lang="en-IN" u="sng" dirty="0"/>
              <a:t>Monitoring and Logging Plan</a:t>
            </a:r>
            <a:br>
              <a:rPr lang="en-IN" dirty="0"/>
            </a:br>
            <a:endParaRPr lang="en-IN" dirty="0"/>
          </a:p>
        </p:txBody>
      </p:sp>
      <p:sp>
        <p:nvSpPr>
          <p:cNvPr id="3" name="Text Placeholder 2">
            <a:extLst>
              <a:ext uri="{FF2B5EF4-FFF2-40B4-BE49-F238E27FC236}">
                <a16:creationId xmlns:a16="http://schemas.microsoft.com/office/drawing/2014/main" id="{106D6CAF-8200-F09D-3BA6-6CE22ED22070}"/>
              </a:ext>
            </a:extLst>
          </p:cNvPr>
          <p:cNvSpPr>
            <a:spLocks noGrp="1"/>
          </p:cNvSpPr>
          <p:nvPr>
            <p:ph type="body" idx="1"/>
          </p:nvPr>
        </p:nvSpPr>
        <p:spPr>
          <a:xfrm>
            <a:off x="609600" y="1577340"/>
            <a:ext cx="10972800" cy="4431983"/>
          </a:xfrm>
        </p:spPr>
        <p:txBody>
          <a:bodyPr/>
          <a:lstStyle/>
          <a:p>
            <a:pPr marL="285750" indent="-285750">
              <a:buFont typeface="Wingdings" panose="05000000000000000000" pitchFamily="2" charset="2"/>
              <a:buChar char="Ø"/>
            </a:pPr>
            <a:r>
              <a:rPr lang="en-IN" b="1" dirty="0"/>
              <a:t>Monitoring Setup</a:t>
            </a:r>
          </a:p>
          <a:p>
            <a:endParaRPr lang="en-IN" b="1" dirty="0"/>
          </a:p>
          <a:p>
            <a:pPr marL="285750" indent="-285750">
              <a:buFont typeface="Arial" panose="020B0604020202020204" pitchFamily="34" charset="0"/>
              <a:buChar char="•"/>
            </a:pPr>
            <a:r>
              <a:rPr lang="en-IN" dirty="0"/>
              <a:t>Deploy continuous monitoring for VPN, RDP, and endpoint activity</a:t>
            </a:r>
          </a:p>
          <a:p>
            <a:pPr marL="285750" indent="-285750">
              <a:buFont typeface="Arial" panose="020B0604020202020204" pitchFamily="34" charset="0"/>
              <a:buChar char="•"/>
            </a:pPr>
            <a:r>
              <a:rPr lang="en-IN" dirty="0"/>
              <a:t>Enable </a:t>
            </a:r>
            <a:r>
              <a:rPr lang="en-IN" b="1" dirty="0"/>
              <a:t>real-time alerts</a:t>
            </a:r>
            <a:r>
              <a:rPr lang="en-IN" dirty="0"/>
              <a:t> for suspicious login attempts, unusual access, or failed authentications</a:t>
            </a:r>
          </a:p>
          <a:p>
            <a:pPr marL="285750" indent="-285750">
              <a:buFont typeface="Arial" panose="020B0604020202020204" pitchFamily="34" charset="0"/>
              <a:buChar char="•"/>
            </a:pPr>
            <a:r>
              <a:rPr lang="en-IN" dirty="0"/>
              <a:t>Configure </a:t>
            </a:r>
            <a:r>
              <a:rPr lang="en-IN" b="1" dirty="0" err="1"/>
              <a:t>behavior</a:t>
            </a:r>
            <a:r>
              <a:rPr lang="en-IN" b="1" dirty="0"/>
              <a:t> analytics</a:t>
            </a:r>
            <a:r>
              <a:rPr lang="en-IN" dirty="0"/>
              <a:t> to detect anomalies</a:t>
            </a:r>
          </a:p>
          <a:p>
            <a:pPr marL="285750" indent="-285750">
              <a:buFont typeface="Arial" panose="020B0604020202020204" pitchFamily="34" charset="0"/>
              <a:buChar char="•"/>
            </a:pPr>
            <a:r>
              <a:rPr lang="en-IN" dirty="0"/>
              <a:t>Integrate monitoring output with SOC dashboards</a:t>
            </a:r>
          </a:p>
          <a:p>
            <a:endParaRPr lang="en-IN" dirty="0"/>
          </a:p>
          <a:p>
            <a:pPr marL="285750" indent="-285750">
              <a:buFont typeface="Wingdings" panose="05000000000000000000" pitchFamily="2" charset="2"/>
              <a:buChar char="Ø"/>
            </a:pPr>
            <a:r>
              <a:rPr lang="en-IN" b="1" dirty="0"/>
              <a:t>Logging Configuration</a:t>
            </a:r>
          </a:p>
          <a:p>
            <a:endParaRPr lang="en-IN" b="1" dirty="0"/>
          </a:p>
          <a:p>
            <a:pPr marL="285750" indent="-285750">
              <a:buFont typeface="Arial" panose="020B0604020202020204" pitchFamily="34" charset="0"/>
              <a:buChar char="•"/>
            </a:pPr>
            <a:r>
              <a:rPr lang="en-IN" dirty="0"/>
              <a:t>Centralize logs from:</a:t>
            </a:r>
          </a:p>
          <a:p>
            <a:pPr marL="742950" lvl="1" indent="-285750">
              <a:buFont typeface="Courier New" panose="02070309020205020404" pitchFamily="49" charset="0"/>
              <a:buChar char="o"/>
            </a:pPr>
            <a:r>
              <a:rPr lang="en-IN" dirty="0"/>
              <a:t>VPN Gateway</a:t>
            </a:r>
          </a:p>
          <a:p>
            <a:pPr marL="742950" lvl="1" indent="-285750">
              <a:buFont typeface="Courier New" panose="02070309020205020404" pitchFamily="49" charset="0"/>
              <a:buChar char="o"/>
            </a:pPr>
            <a:r>
              <a:rPr lang="en-IN" dirty="0"/>
              <a:t>Authentication Server (AD/IdP)</a:t>
            </a:r>
          </a:p>
          <a:p>
            <a:pPr marL="742950" lvl="1" indent="-285750">
              <a:buFont typeface="Courier New" panose="02070309020205020404" pitchFamily="49" charset="0"/>
              <a:buChar char="o"/>
            </a:pPr>
            <a:r>
              <a:rPr lang="en-IN" dirty="0"/>
              <a:t>Endpoint Security Tools (EDR)</a:t>
            </a:r>
          </a:p>
          <a:p>
            <a:pPr marL="742950" lvl="1" indent="-285750">
              <a:buFont typeface="Courier New" panose="02070309020205020404" pitchFamily="49" charset="0"/>
              <a:buChar char="o"/>
            </a:pPr>
            <a:r>
              <a:rPr lang="en-IN" dirty="0"/>
              <a:t>Firewalls &amp; Network Devices</a:t>
            </a:r>
          </a:p>
          <a:p>
            <a:pPr marL="285750" indent="-285750">
              <a:buFont typeface="Arial" panose="020B0604020202020204" pitchFamily="34" charset="0"/>
              <a:buChar char="•"/>
            </a:pPr>
            <a:r>
              <a:rPr lang="en-IN" dirty="0"/>
              <a:t>Use a SIEM platform: </a:t>
            </a:r>
            <a:r>
              <a:rPr lang="en-IN" b="1" dirty="0"/>
              <a:t>ELK / Splunk / </a:t>
            </a:r>
            <a:r>
              <a:rPr lang="en-IN" b="1" dirty="0" err="1"/>
              <a:t>QRadar</a:t>
            </a:r>
            <a:r>
              <a:rPr lang="en-IN" b="1" dirty="0"/>
              <a:t> / Azure Sentinel</a:t>
            </a:r>
            <a:endParaRPr lang="en-IN" dirty="0"/>
          </a:p>
          <a:p>
            <a:endParaRPr lang="en-IN" dirty="0"/>
          </a:p>
        </p:txBody>
      </p:sp>
    </p:spTree>
    <p:extLst>
      <p:ext uri="{BB962C8B-B14F-4D97-AF65-F5344CB8AC3E}">
        <p14:creationId xmlns:p14="http://schemas.microsoft.com/office/powerpoint/2010/main" val="3645510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5C32A-985C-EB8A-E71F-7B58823DA91F}"/>
              </a:ext>
            </a:extLst>
          </p:cNvPr>
          <p:cNvSpPr txBox="1"/>
          <p:nvPr/>
        </p:nvSpPr>
        <p:spPr>
          <a:xfrm>
            <a:off x="152400" y="914400"/>
            <a:ext cx="11887200" cy="3693319"/>
          </a:xfrm>
          <a:prstGeom prst="rect">
            <a:avLst/>
          </a:prstGeom>
          <a:noFill/>
        </p:spPr>
        <p:txBody>
          <a:bodyPr wrap="square" rtlCol="0">
            <a:spAutoFit/>
          </a:bodyPr>
          <a:lstStyle/>
          <a:p>
            <a:pPr marL="285750" indent="-285750">
              <a:buFont typeface="Wingdings" panose="05000000000000000000" pitchFamily="2" charset="2"/>
              <a:buChar char="Ø"/>
            </a:pPr>
            <a:r>
              <a:rPr lang="en-US" b="1" dirty="0"/>
              <a:t>Security &amp; Compliance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Configure log retention: </a:t>
            </a:r>
            <a:r>
              <a:rPr lang="en-US" b="1" dirty="0"/>
              <a:t>90–365 days</a:t>
            </a:r>
            <a:endParaRPr lang="en-US" dirty="0"/>
          </a:p>
          <a:p>
            <a:pPr marL="285750" indent="-285750">
              <a:buFont typeface="Arial" panose="020B0604020202020204" pitchFamily="34" charset="0"/>
              <a:buChar char="•"/>
            </a:pPr>
            <a:r>
              <a:rPr lang="en-US" dirty="0"/>
              <a:t>Enable timestamping &amp; integrity checks</a:t>
            </a:r>
          </a:p>
          <a:p>
            <a:pPr marL="285750" indent="-285750">
              <a:buFont typeface="Arial" panose="020B0604020202020204" pitchFamily="34" charset="0"/>
              <a:buChar char="•"/>
            </a:pPr>
            <a:r>
              <a:rPr lang="en-US" dirty="0"/>
              <a:t>Restrict access to logs (RBAC)</a:t>
            </a:r>
          </a:p>
          <a:p>
            <a:pPr marL="285750" indent="-285750">
              <a:buFont typeface="Arial" panose="020B0604020202020204" pitchFamily="34" charset="0"/>
              <a:buChar char="•"/>
            </a:pPr>
            <a:r>
              <a:rPr lang="en-US" dirty="0"/>
              <a:t>Schedule weekly log reviews &amp; automated reports</a:t>
            </a:r>
          </a:p>
          <a:p>
            <a:endParaRPr lang="en-US" dirty="0"/>
          </a:p>
          <a:p>
            <a:pPr marL="285750" indent="-285750">
              <a:buFont typeface="Wingdings" panose="05000000000000000000" pitchFamily="2" charset="2"/>
              <a:buChar char="Ø"/>
            </a:pPr>
            <a:r>
              <a:rPr lang="en-US" b="1" dirty="0"/>
              <a:t>Response Workflow</a:t>
            </a:r>
          </a:p>
          <a:p>
            <a:endParaRPr lang="en-US" b="1" dirty="0"/>
          </a:p>
          <a:p>
            <a:pPr marL="285750" indent="-285750">
              <a:buFont typeface="Arial" panose="020B0604020202020204" pitchFamily="34" charset="0"/>
              <a:buChar char="•"/>
            </a:pPr>
            <a:r>
              <a:rPr lang="en-US" dirty="0"/>
              <a:t>Alerts → SIEM → SOC Analyst Review</a:t>
            </a:r>
          </a:p>
          <a:p>
            <a:pPr marL="285750" indent="-285750">
              <a:buFont typeface="Arial" panose="020B0604020202020204" pitchFamily="34" charset="0"/>
              <a:buChar char="•"/>
            </a:pPr>
            <a:r>
              <a:rPr lang="en-US" dirty="0"/>
              <a:t>Incident ticket creation for high-severity events</a:t>
            </a:r>
          </a:p>
          <a:p>
            <a:pPr marL="285750" indent="-285750">
              <a:buFont typeface="Arial" panose="020B0604020202020204" pitchFamily="34" charset="0"/>
              <a:buChar char="•"/>
            </a:pPr>
            <a:r>
              <a:rPr lang="en-US" dirty="0"/>
              <a:t>Automated response for common threats (e.g., lock account, block IP)</a:t>
            </a:r>
          </a:p>
          <a:p>
            <a:endParaRPr lang="en-IN" dirty="0"/>
          </a:p>
        </p:txBody>
      </p:sp>
    </p:spTree>
    <p:extLst>
      <p:ext uri="{BB962C8B-B14F-4D97-AF65-F5344CB8AC3E}">
        <p14:creationId xmlns:p14="http://schemas.microsoft.com/office/powerpoint/2010/main" val="1988445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C5672-EA67-EBA1-8269-2BAECDD405C2}"/>
              </a:ext>
            </a:extLst>
          </p:cNvPr>
          <p:cNvSpPr>
            <a:spLocks noGrp="1"/>
          </p:cNvSpPr>
          <p:nvPr>
            <p:ph type="title"/>
          </p:nvPr>
        </p:nvSpPr>
        <p:spPr>
          <a:xfrm>
            <a:off x="152400" y="197167"/>
            <a:ext cx="7639050" cy="515526"/>
          </a:xfrm>
        </p:spPr>
        <p:txBody>
          <a:bodyPr/>
          <a:lstStyle/>
          <a:p>
            <a:pPr marL="342900" indent="-342900"/>
            <a:r>
              <a:rPr lang="en-IN" u="sng" dirty="0"/>
              <a:t>User Training Materials</a:t>
            </a:r>
          </a:p>
        </p:txBody>
      </p:sp>
      <p:sp>
        <p:nvSpPr>
          <p:cNvPr id="3" name="Text Placeholder 2">
            <a:extLst>
              <a:ext uri="{FF2B5EF4-FFF2-40B4-BE49-F238E27FC236}">
                <a16:creationId xmlns:a16="http://schemas.microsoft.com/office/drawing/2014/main" id="{0E7E3CCC-1CA8-AB94-DDA0-50E34E0ECF78}"/>
              </a:ext>
            </a:extLst>
          </p:cNvPr>
          <p:cNvSpPr>
            <a:spLocks noGrp="1"/>
          </p:cNvSpPr>
          <p:nvPr>
            <p:ph type="body" idx="1"/>
          </p:nvPr>
        </p:nvSpPr>
        <p:spPr>
          <a:xfrm>
            <a:off x="174702" y="838200"/>
            <a:ext cx="10972800" cy="6093976"/>
          </a:xfrm>
        </p:spPr>
        <p:txBody>
          <a:bodyPr/>
          <a:lstStyle/>
          <a:p>
            <a:pPr marL="285750" indent="-285750">
              <a:buFont typeface="Wingdings" panose="05000000000000000000" pitchFamily="2" charset="2"/>
              <a:buChar char="Ø"/>
            </a:pPr>
            <a:r>
              <a:rPr lang="en-IN" b="1" dirty="0"/>
              <a:t>Training Topics</a:t>
            </a:r>
          </a:p>
          <a:p>
            <a:endParaRPr lang="en-IN" b="1" dirty="0"/>
          </a:p>
          <a:p>
            <a:pPr marL="285750" indent="-285750">
              <a:buFont typeface="Arial" panose="020B0604020202020204" pitchFamily="34" charset="0"/>
              <a:buChar char="•"/>
            </a:pPr>
            <a:r>
              <a:rPr lang="en-IN" dirty="0"/>
              <a:t>Safe remote access usage (VPN, MFA, secure passwords)</a:t>
            </a:r>
          </a:p>
          <a:p>
            <a:pPr marL="285750" indent="-285750">
              <a:buFont typeface="Arial" panose="020B0604020202020204" pitchFamily="34" charset="0"/>
              <a:buChar char="•"/>
            </a:pPr>
            <a:r>
              <a:rPr lang="en-IN" dirty="0"/>
              <a:t>Identifying phishing, social engineering &amp; suspicious emails</a:t>
            </a:r>
          </a:p>
          <a:p>
            <a:pPr marL="285750" indent="-285750">
              <a:buFont typeface="Arial" panose="020B0604020202020204" pitchFamily="34" charset="0"/>
              <a:buChar char="•"/>
            </a:pPr>
            <a:r>
              <a:rPr lang="en-IN" dirty="0"/>
              <a:t>Secure file sharing and data handling practices</a:t>
            </a:r>
          </a:p>
          <a:p>
            <a:pPr marL="285750" indent="-285750">
              <a:buFont typeface="Arial" panose="020B0604020202020204" pitchFamily="34" charset="0"/>
              <a:buChar char="•"/>
            </a:pPr>
            <a:r>
              <a:rPr lang="en-IN" dirty="0"/>
              <a:t>Device security basics (updates, EDR alerts, encryption)</a:t>
            </a:r>
          </a:p>
          <a:p>
            <a:pPr marL="285750" indent="-285750">
              <a:buFont typeface="Arial" panose="020B0604020202020204" pitchFamily="34" charset="0"/>
              <a:buChar char="•"/>
            </a:pPr>
            <a:r>
              <a:rPr lang="en-IN" dirty="0"/>
              <a:t>Reporting security incidents quickly</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b="1" dirty="0"/>
              <a:t>Training Materials Provided</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dirty="0"/>
              <a:t>Step-by-step guides (PDF)</a:t>
            </a:r>
          </a:p>
          <a:p>
            <a:pPr marL="285750" indent="-285750">
              <a:buFont typeface="Arial" panose="020B0604020202020204" pitchFamily="34" charset="0"/>
              <a:buChar char="•"/>
            </a:pPr>
            <a:r>
              <a:rPr lang="en-IN" dirty="0"/>
              <a:t>Short video tutorials</a:t>
            </a:r>
          </a:p>
          <a:p>
            <a:pPr marL="285750" indent="-285750">
              <a:buFont typeface="Arial" panose="020B0604020202020204" pitchFamily="34" charset="0"/>
              <a:buChar char="•"/>
            </a:pPr>
            <a:r>
              <a:rPr lang="en-IN" dirty="0"/>
              <a:t>Do’s &amp; Don’ts cheat sheet</a:t>
            </a:r>
          </a:p>
          <a:p>
            <a:pPr marL="285750" indent="-285750">
              <a:buFont typeface="Arial" panose="020B0604020202020204" pitchFamily="34" charset="0"/>
              <a:buChar char="•"/>
            </a:pPr>
            <a:r>
              <a:rPr lang="en-IN" dirty="0"/>
              <a:t>Monthly awareness posters &amp; email tips</a:t>
            </a:r>
          </a:p>
          <a:p>
            <a:pPr marL="285750" indent="-285750">
              <a:buFont typeface="Arial" panose="020B0604020202020204" pitchFamily="34" charset="0"/>
              <a:buChar char="•"/>
            </a:pPr>
            <a:r>
              <a:rPr lang="en-IN" dirty="0"/>
              <a:t>Hands-on demo sessions for VPN &amp; MFA</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b="1" dirty="0"/>
              <a:t>Training Schedule</a:t>
            </a:r>
          </a:p>
          <a:p>
            <a:endParaRPr lang="en-IN" b="1" dirty="0"/>
          </a:p>
          <a:p>
            <a:pPr marL="285750" indent="-285750">
              <a:buFont typeface="Arial" panose="020B0604020202020204" pitchFamily="34" charset="0"/>
              <a:buChar char="•"/>
            </a:pPr>
            <a:r>
              <a:rPr lang="en-IN" b="1" dirty="0"/>
              <a:t>Initial onboarding training</a:t>
            </a:r>
            <a:r>
              <a:rPr lang="en-IN" dirty="0"/>
              <a:t> for all new employees</a:t>
            </a:r>
          </a:p>
          <a:p>
            <a:pPr marL="285750" indent="-285750">
              <a:buFont typeface="Arial" panose="020B0604020202020204" pitchFamily="34" charset="0"/>
              <a:buChar char="•"/>
            </a:pPr>
            <a:r>
              <a:rPr lang="en-IN" b="1" dirty="0"/>
              <a:t>Quarterly security awareness sessions</a:t>
            </a:r>
            <a:endParaRPr lang="en-IN" dirty="0"/>
          </a:p>
          <a:p>
            <a:pPr marL="285750" indent="-285750">
              <a:buFont typeface="Arial" panose="020B0604020202020204" pitchFamily="34" charset="0"/>
              <a:buChar char="•"/>
            </a:pPr>
            <a:r>
              <a:rPr lang="en-IN" b="1" dirty="0"/>
              <a:t>Annual compliance certification</a:t>
            </a:r>
            <a:endParaRPr lang="en-IN" dirty="0"/>
          </a:p>
          <a:p>
            <a:endParaRPr lang="en-IN" dirty="0"/>
          </a:p>
        </p:txBody>
      </p:sp>
    </p:spTree>
    <p:extLst>
      <p:ext uri="{BB962C8B-B14F-4D97-AF65-F5344CB8AC3E}">
        <p14:creationId xmlns:p14="http://schemas.microsoft.com/office/powerpoint/2010/main" val="1592079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A728-F1A4-9030-24CD-F7929E7BFB68}"/>
              </a:ext>
            </a:extLst>
          </p:cNvPr>
          <p:cNvSpPr>
            <a:spLocks noGrp="1"/>
          </p:cNvSpPr>
          <p:nvPr>
            <p:ph type="title"/>
          </p:nvPr>
        </p:nvSpPr>
        <p:spPr>
          <a:xfrm>
            <a:off x="76200" y="37346"/>
            <a:ext cx="8858250" cy="1031051"/>
          </a:xfrm>
        </p:spPr>
        <p:txBody>
          <a:bodyPr/>
          <a:lstStyle/>
          <a:p>
            <a:r>
              <a:rPr lang="en-IN" u="sng" dirty="0"/>
              <a:t>Policy and Compliance Documentation</a:t>
            </a:r>
            <a:br>
              <a:rPr lang="en-IN" dirty="0"/>
            </a:br>
            <a:endParaRPr lang="en-IN" dirty="0"/>
          </a:p>
        </p:txBody>
      </p:sp>
      <p:sp>
        <p:nvSpPr>
          <p:cNvPr id="3" name="Text Placeholder 2">
            <a:extLst>
              <a:ext uri="{FF2B5EF4-FFF2-40B4-BE49-F238E27FC236}">
                <a16:creationId xmlns:a16="http://schemas.microsoft.com/office/drawing/2014/main" id="{4D7A83EF-8610-4EC1-1357-B43A4248C449}"/>
              </a:ext>
            </a:extLst>
          </p:cNvPr>
          <p:cNvSpPr>
            <a:spLocks noGrp="1"/>
          </p:cNvSpPr>
          <p:nvPr>
            <p:ph type="body" idx="1"/>
          </p:nvPr>
        </p:nvSpPr>
        <p:spPr>
          <a:xfrm>
            <a:off x="152400" y="914400"/>
            <a:ext cx="10972800" cy="6093976"/>
          </a:xfrm>
        </p:spPr>
        <p:txBody>
          <a:bodyPr/>
          <a:lstStyle/>
          <a:p>
            <a:pPr marL="285750" indent="-285750">
              <a:buFont typeface="Wingdings" panose="05000000000000000000" pitchFamily="2" charset="2"/>
              <a:buChar char="Ø"/>
            </a:pPr>
            <a:r>
              <a:rPr lang="en-IN" b="1" dirty="0"/>
              <a:t>Core Remote Access Policies</a:t>
            </a:r>
          </a:p>
          <a:p>
            <a:endParaRPr lang="en-IN" b="1" dirty="0"/>
          </a:p>
          <a:p>
            <a:pPr marL="285750" indent="-285750">
              <a:buFont typeface="Arial" panose="020B0604020202020204" pitchFamily="34" charset="0"/>
              <a:buChar char="•"/>
            </a:pPr>
            <a:r>
              <a:rPr lang="en-IN" dirty="0"/>
              <a:t>Approved remote access methods (VPN, MFA, secure RDP)</a:t>
            </a:r>
          </a:p>
          <a:p>
            <a:pPr marL="285750" indent="-285750">
              <a:buFont typeface="Arial" panose="020B0604020202020204" pitchFamily="34" charset="0"/>
              <a:buChar char="•"/>
            </a:pPr>
            <a:r>
              <a:rPr lang="en-IN" dirty="0"/>
              <a:t>Device security requirements (EDR, patching, encryption)</a:t>
            </a:r>
          </a:p>
          <a:p>
            <a:pPr marL="285750" indent="-285750">
              <a:buFont typeface="Arial" panose="020B0604020202020204" pitchFamily="34" charset="0"/>
              <a:buChar char="•"/>
            </a:pPr>
            <a:r>
              <a:rPr lang="en-IN" dirty="0"/>
              <a:t>Acceptable use rules for remote work</a:t>
            </a:r>
          </a:p>
          <a:p>
            <a:pPr marL="285750" indent="-285750">
              <a:buFont typeface="Arial" panose="020B0604020202020204" pitchFamily="34" charset="0"/>
              <a:buChar char="•"/>
            </a:pPr>
            <a:r>
              <a:rPr lang="en-IN" dirty="0"/>
              <a:t>Data handling &amp; classification guidelines</a:t>
            </a:r>
          </a:p>
          <a:p>
            <a:endParaRPr lang="en-IN" dirty="0"/>
          </a:p>
          <a:p>
            <a:pPr marL="285750" indent="-285750">
              <a:buFont typeface="Wingdings" panose="05000000000000000000" pitchFamily="2" charset="2"/>
              <a:buChar char="Ø"/>
            </a:pPr>
            <a:r>
              <a:rPr lang="en-IN" b="1" dirty="0"/>
              <a:t>Compliance Requirements</a:t>
            </a:r>
          </a:p>
          <a:p>
            <a:endParaRPr lang="en-IN" b="1" dirty="0"/>
          </a:p>
          <a:p>
            <a:pPr marL="285750" indent="-285750">
              <a:buFont typeface="Arial" panose="020B0604020202020204" pitchFamily="34" charset="0"/>
              <a:buChar char="•"/>
            </a:pPr>
            <a:r>
              <a:rPr lang="en-IN" dirty="0"/>
              <a:t>Adherence to internal security standards</a:t>
            </a:r>
          </a:p>
          <a:p>
            <a:pPr marL="285750" indent="-285750">
              <a:buFont typeface="Arial" panose="020B0604020202020204" pitchFamily="34" charset="0"/>
              <a:buChar char="•"/>
            </a:pPr>
            <a:r>
              <a:rPr lang="en-IN" dirty="0"/>
              <a:t>Compliance with frameworks: </a:t>
            </a:r>
            <a:r>
              <a:rPr lang="en-IN" b="1" dirty="0"/>
              <a:t>ISO 27001, NIST, GDPR (if applicable)</a:t>
            </a:r>
            <a:endParaRPr lang="en-IN" dirty="0"/>
          </a:p>
          <a:p>
            <a:pPr marL="285750" indent="-285750">
              <a:buFont typeface="Arial" panose="020B0604020202020204" pitchFamily="34" charset="0"/>
              <a:buChar char="•"/>
            </a:pPr>
            <a:r>
              <a:rPr lang="en-IN" dirty="0"/>
              <a:t>Regular access reviews and least-privilege enforcement</a:t>
            </a:r>
          </a:p>
          <a:p>
            <a:pPr marL="285750" indent="-285750">
              <a:buFont typeface="Arial" panose="020B0604020202020204" pitchFamily="34" charset="0"/>
              <a:buChar char="•"/>
            </a:pPr>
            <a:r>
              <a:rPr lang="en-IN" dirty="0"/>
              <a:t>Mandatory log retention (90–365 days)</a:t>
            </a:r>
          </a:p>
          <a:p>
            <a:pPr marL="285750" indent="-285750">
              <a:buFont typeface="Arial" panose="020B0604020202020204" pitchFamily="34" charset="0"/>
              <a:buChar char="•"/>
            </a:pPr>
            <a:r>
              <a:rPr lang="en-IN" dirty="0"/>
              <a:t>Documented incident response &amp; escalation process</a:t>
            </a:r>
          </a:p>
          <a:p>
            <a:endParaRPr lang="en-IN" dirty="0"/>
          </a:p>
          <a:p>
            <a:pPr marL="285750" indent="-285750">
              <a:buFont typeface="Wingdings" panose="05000000000000000000" pitchFamily="2" charset="2"/>
              <a:buChar char="Ø"/>
            </a:pPr>
            <a:r>
              <a:rPr lang="en-IN" b="1" dirty="0"/>
              <a:t>Documentation Package Includes</a:t>
            </a:r>
          </a:p>
          <a:p>
            <a:endParaRPr lang="en-IN" b="1" dirty="0"/>
          </a:p>
          <a:p>
            <a:pPr marL="285750" indent="-285750">
              <a:buFont typeface="Arial" panose="020B0604020202020204" pitchFamily="34" charset="0"/>
              <a:buChar char="•"/>
            </a:pPr>
            <a:r>
              <a:rPr lang="en-IN" dirty="0"/>
              <a:t>Remote Access Policy</a:t>
            </a:r>
          </a:p>
          <a:p>
            <a:pPr marL="285750" indent="-285750">
              <a:buFont typeface="Arial" panose="020B0604020202020204" pitchFamily="34" charset="0"/>
              <a:buChar char="•"/>
            </a:pPr>
            <a:r>
              <a:rPr lang="en-IN" dirty="0"/>
              <a:t>VPN &amp; MFA Configuration Standards</a:t>
            </a:r>
          </a:p>
          <a:p>
            <a:pPr marL="285750" indent="-285750">
              <a:buFont typeface="Arial" panose="020B0604020202020204" pitchFamily="34" charset="0"/>
              <a:buChar char="•"/>
            </a:pPr>
            <a:r>
              <a:rPr lang="en-IN" dirty="0"/>
              <a:t>Endpoint Security Requirements</a:t>
            </a:r>
          </a:p>
          <a:p>
            <a:pPr marL="285750" indent="-285750">
              <a:buFont typeface="Arial" panose="020B0604020202020204" pitchFamily="34" charset="0"/>
              <a:buChar char="•"/>
            </a:pPr>
            <a:r>
              <a:rPr lang="en-IN" dirty="0"/>
              <a:t>Change Management &amp; Audit Procedures</a:t>
            </a:r>
          </a:p>
          <a:p>
            <a:endParaRPr lang="en-IN" dirty="0"/>
          </a:p>
        </p:txBody>
      </p:sp>
    </p:spTree>
    <p:extLst>
      <p:ext uri="{BB962C8B-B14F-4D97-AF65-F5344CB8AC3E}">
        <p14:creationId xmlns:p14="http://schemas.microsoft.com/office/powerpoint/2010/main" val="1283378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1CA92-9E92-5910-7AE8-957F29CB53BD}"/>
              </a:ext>
            </a:extLst>
          </p:cNvPr>
          <p:cNvSpPr>
            <a:spLocks noGrp="1"/>
          </p:cNvSpPr>
          <p:nvPr>
            <p:ph type="title"/>
          </p:nvPr>
        </p:nvSpPr>
        <p:spPr>
          <a:xfrm>
            <a:off x="666750" y="588645"/>
            <a:ext cx="2914650" cy="515526"/>
          </a:xfrm>
        </p:spPr>
        <p:txBody>
          <a:bodyPr/>
          <a:lstStyle/>
          <a:p>
            <a:pPr marL="342900" indent="-342900"/>
            <a:r>
              <a:rPr lang="en-IN" u="sng" dirty="0"/>
              <a:t>Mitigation</a:t>
            </a:r>
          </a:p>
        </p:txBody>
      </p:sp>
      <p:sp>
        <p:nvSpPr>
          <p:cNvPr id="5" name="Rectangle 2">
            <a:extLst>
              <a:ext uri="{FF2B5EF4-FFF2-40B4-BE49-F238E27FC236}">
                <a16:creationId xmlns:a16="http://schemas.microsoft.com/office/drawing/2014/main" id="{80CE226A-E481-A42B-71B4-A094F11B20A8}"/>
              </a:ext>
            </a:extLst>
          </p:cNvPr>
          <p:cNvSpPr>
            <a:spLocks noGrp="1" noChangeArrowheads="1"/>
          </p:cNvSpPr>
          <p:nvPr>
            <p:ph type="body" idx="1"/>
          </p:nvPr>
        </p:nvSpPr>
        <p:spPr bwMode="auto">
          <a:xfrm>
            <a:off x="533400" y="1443841"/>
            <a:ext cx="10591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MFA + RBAC</a:t>
            </a:r>
            <a:r>
              <a:rPr kumimoji="0" lang="en-US" altLang="en-US" sz="1800" b="0" i="0" u="none" strike="noStrike" cap="none" normalizeH="0" baseline="0" dirty="0">
                <a:ln>
                  <a:noFill/>
                </a:ln>
                <a:solidFill>
                  <a:schemeClr val="tx1"/>
                </a:solidFill>
                <a:effectLst/>
                <a:latin typeface="Arial" panose="020B0604020202020204" pitchFamily="34" charset="0"/>
              </a:rPr>
              <a:t> to block unauthorized access.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EDR, encryption, patching</a:t>
            </a:r>
            <a:r>
              <a:rPr kumimoji="0" lang="en-US" altLang="en-US" sz="1800" b="0" i="0" u="none" strike="noStrike" cap="none" normalizeH="0" baseline="0" dirty="0">
                <a:ln>
                  <a:noFill/>
                </a:ln>
                <a:solidFill>
                  <a:schemeClr val="tx1"/>
                </a:solidFill>
                <a:effectLst/>
                <a:latin typeface="Arial" panose="020B0604020202020204" pitchFamily="34" charset="0"/>
              </a:rPr>
              <a:t> to secure endpoints.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Zero Trust + segmentation</a:t>
            </a:r>
            <a:r>
              <a:rPr kumimoji="0" lang="en-US" altLang="en-US" sz="1800" b="0" i="0" u="none" strike="noStrike" cap="none" normalizeH="0" baseline="0" dirty="0">
                <a:ln>
                  <a:noFill/>
                </a:ln>
                <a:solidFill>
                  <a:schemeClr val="tx1"/>
                </a:solidFill>
                <a:effectLst/>
                <a:latin typeface="Arial" panose="020B0604020202020204" pitchFamily="34" charset="0"/>
              </a:rPr>
              <a:t> to limit lateral movement.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Secure VPN setup</a:t>
            </a:r>
            <a:r>
              <a:rPr kumimoji="0" lang="en-US" altLang="en-US" sz="1800" b="0" i="0" u="none" strike="noStrike" cap="none" normalizeH="0" baseline="0" dirty="0">
                <a:ln>
                  <a:noFill/>
                </a:ln>
                <a:solidFill>
                  <a:schemeClr val="tx1"/>
                </a:solidFill>
                <a:effectLst/>
                <a:latin typeface="Arial" panose="020B0604020202020204" pitchFamily="34" charset="0"/>
              </a:rPr>
              <a:t> with restricted subnet access.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Continuous monitoring &amp; SIEM logging</a:t>
            </a:r>
            <a:r>
              <a:rPr kumimoji="0" lang="en-US" altLang="en-US" sz="1800" b="0" i="0" u="none" strike="noStrike" cap="none" normalizeH="0" baseline="0" dirty="0">
                <a:ln>
                  <a:noFill/>
                </a:ln>
                <a:solidFill>
                  <a:schemeClr val="tx1"/>
                </a:solidFill>
                <a:effectLst/>
                <a:latin typeface="Arial" panose="020B0604020202020204" pitchFamily="34" charset="0"/>
              </a:rPr>
              <a:t> for threat detection.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training</a:t>
            </a:r>
            <a:r>
              <a:rPr kumimoji="0" lang="en-US" altLang="en-US" sz="1800" b="0" i="0" u="none" strike="noStrike" cap="none" normalizeH="0" baseline="0" dirty="0">
                <a:ln>
                  <a:noFill/>
                </a:ln>
                <a:solidFill>
                  <a:schemeClr val="tx1"/>
                </a:solidFill>
                <a:effectLst/>
                <a:latin typeface="Arial" panose="020B0604020202020204" pitchFamily="34" charset="0"/>
              </a:rPr>
              <a:t> to reduce phishing and credential attacks.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Hardened RDP &amp; secure file sharing</a:t>
            </a:r>
            <a:r>
              <a:rPr kumimoji="0" lang="en-US" altLang="en-US" sz="1800" b="0" i="0" u="none" strike="noStrike" cap="none" normalizeH="0" baseline="0" dirty="0">
                <a:ln>
                  <a:noFill/>
                </a:ln>
                <a:solidFill>
                  <a:schemeClr val="tx1"/>
                </a:solidFill>
                <a:effectLst/>
                <a:latin typeface="Arial" panose="020B0604020202020204" pitchFamily="34" charset="0"/>
              </a:rPr>
              <a:t> to prevent misuse.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470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A02F1-44C1-164C-BE67-8040ED556EAF}"/>
              </a:ext>
            </a:extLst>
          </p:cNvPr>
          <p:cNvSpPr>
            <a:spLocks noGrp="1"/>
          </p:cNvSpPr>
          <p:nvPr>
            <p:ph type="title"/>
          </p:nvPr>
        </p:nvSpPr>
        <p:spPr>
          <a:xfrm>
            <a:off x="666750" y="588644"/>
            <a:ext cx="3067050" cy="515526"/>
          </a:xfrm>
        </p:spPr>
        <p:txBody>
          <a:bodyPr/>
          <a:lstStyle/>
          <a:p>
            <a:pPr marL="342900" indent="-342900"/>
            <a:r>
              <a:rPr lang="en-IN" u="sng" dirty="0"/>
              <a:t>Conclusion</a:t>
            </a:r>
          </a:p>
        </p:txBody>
      </p:sp>
      <p:sp>
        <p:nvSpPr>
          <p:cNvPr id="4" name="Rectangle 1">
            <a:extLst>
              <a:ext uri="{FF2B5EF4-FFF2-40B4-BE49-F238E27FC236}">
                <a16:creationId xmlns:a16="http://schemas.microsoft.com/office/drawing/2014/main" id="{79D70D4B-0841-48E6-B0A3-BB1C3E52D7F4}"/>
              </a:ext>
            </a:extLst>
          </p:cNvPr>
          <p:cNvSpPr>
            <a:spLocks noGrp="1" noChangeArrowheads="1"/>
          </p:cNvSpPr>
          <p:nvPr>
            <p:ph type="body" idx="1"/>
          </p:nvPr>
        </p:nvSpPr>
        <p:spPr bwMode="auto">
          <a:xfrm>
            <a:off x="533400" y="1676400"/>
            <a:ext cx="903965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Secure remote access is fully strengthened</a:t>
            </a:r>
            <a:r>
              <a:rPr kumimoji="0" lang="en-US" altLang="en-US" sz="1800" b="0" i="0" u="none" strike="noStrike" cap="none" normalizeH="0" baseline="0" dirty="0">
                <a:ln>
                  <a:noFill/>
                </a:ln>
                <a:solidFill>
                  <a:schemeClr val="tx1"/>
                </a:solidFill>
                <a:effectLst/>
                <a:latin typeface="Arial" panose="020B0604020202020204" pitchFamily="34" charset="0"/>
              </a:rPr>
              <a:t> using VPN, MFA, and encryption.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Zero Trust principles</a:t>
            </a:r>
            <a:r>
              <a:rPr kumimoji="0" lang="en-US" altLang="en-US" sz="1800" b="0" i="0" u="none" strike="noStrike" cap="none" normalizeH="0" baseline="0" dirty="0">
                <a:ln>
                  <a:noFill/>
                </a:ln>
                <a:solidFill>
                  <a:schemeClr val="tx1"/>
                </a:solidFill>
                <a:effectLst/>
                <a:latin typeface="Arial" panose="020B0604020202020204" pitchFamily="34" charset="0"/>
              </a:rPr>
              <a:t> ensure continuous verification and least-privilege access.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Network segmentation</a:t>
            </a:r>
            <a:r>
              <a:rPr kumimoji="0" lang="en-US" altLang="en-US" sz="1800" b="0" i="0" u="none" strike="noStrike" cap="none" normalizeH="0" baseline="0" dirty="0">
                <a:ln>
                  <a:noFill/>
                </a:ln>
                <a:solidFill>
                  <a:schemeClr val="tx1"/>
                </a:solidFill>
                <a:effectLst/>
                <a:latin typeface="Arial" panose="020B0604020202020204" pitchFamily="34" charset="0"/>
              </a:rPr>
              <a:t> reduces lateral movement and protects critical systems.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Endpoint security controls</a:t>
            </a:r>
            <a:r>
              <a:rPr kumimoji="0" lang="en-US" altLang="en-US" sz="1800" b="0" i="0" u="none" strike="noStrike" cap="none" normalizeH="0" baseline="0" dirty="0">
                <a:ln>
                  <a:noFill/>
                </a:ln>
                <a:solidFill>
                  <a:schemeClr val="tx1"/>
                </a:solidFill>
                <a:effectLst/>
                <a:latin typeface="Arial" panose="020B0604020202020204" pitchFamily="34" charset="0"/>
              </a:rPr>
              <a:t> ensure only compliant devices can connect.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Centralized monitoring &amp; logging</a:t>
            </a:r>
            <a:r>
              <a:rPr kumimoji="0" lang="en-US" altLang="en-US" sz="1800" b="0" i="0" u="none" strike="noStrike" cap="none" normalizeH="0" baseline="0" dirty="0">
                <a:ln>
                  <a:noFill/>
                </a:ln>
                <a:solidFill>
                  <a:schemeClr val="tx1"/>
                </a:solidFill>
                <a:effectLst/>
                <a:latin typeface="Arial" panose="020B0604020202020204" pitchFamily="34" charset="0"/>
              </a:rPr>
              <a:t> improve threat detection and incident response.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awareness training</a:t>
            </a:r>
            <a:r>
              <a:rPr kumimoji="0" lang="en-US" altLang="en-US" sz="1800" b="0" i="0" u="none" strike="noStrike" cap="none" normalizeH="0" baseline="0" dirty="0">
                <a:ln>
                  <a:noFill/>
                </a:ln>
                <a:solidFill>
                  <a:schemeClr val="tx1"/>
                </a:solidFill>
                <a:effectLst/>
                <a:latin typeface="Arial" panose="020B0604020202020204" pitchFamily="34" charset="0"/>
              </a:rPr>
              <a:t> reduces human-based security risks.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solution </a:t>
            </a:r>
            <a:r>
              <a:rPr kumimoji="0" lang="en-US" altLang="en-US" sz="1800" b="1" i="0" u="none" strike="noStrike" cap="none" normalizeH="0" baseline="0" dirty="0">
                <a:ln>
                  <a:noFill/>
                </a:ln>
                <a:solidFill>
                  <a:schemeClr val="tx1"/>
                </a:solidFill>
                <a:effectLst/>
                <a:latin typeface="Arial" panose="020B0604020202020204" pitchFamily="34" charset="0"/>
              </a:rPr>
              <a:t>enhances overall security posture</a:t>
            </a:r>
            <a:r>
              <a:rPr kumimoji="0" lang="en-US" altLang="en-US" sz="1800" b="0" i="0" u="none" strike="noStrike" cap="none" normalizeH="0" baseline="0" dirty="0">
                <a:ln>
                  <a:noFill/>
                </a:ln>
                <a:solidFill>
                  <a:schemeClr val="tx1"/>
                </a:solidFill>
                <a:effectLst/>
                <a:latin typeface="Arial" panose="020B0604020202020204" pitchFamily="34" charset="0"/>
              </a:rPr>
              <a:t> while enabling safe remote work.</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0500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73232" y="2487931"/>
            <a:ext cx="3735070" cy="941069"/>
          </a:xfrm>
          <a:prstGeom prst="rect">
            <a:avLst/>
          </a:prstGeom>
        </p:spPr>
        <p:txBody>
          <a:bodyPr vert="horz" wrap="square" lIns="0" tIns="13335" rIns="0" bIns="0" rtlCol="0">
            <a:spAutoFit/>
          </a:bodyPr>
          <a:lstStyle/>
          <a:p>
            <a:pPr marL="12700">
              <a:lnSpc>
                <a:spcPct val="100000"/>
              </a:lnSpc>
              <a:spcBef>
                <a:spcPts val="105"/>
              </a:spcBef>
            </a:pPr>
            <a:r>
              <a:rPr sz="6000" dirty="0"/>
              <a:t>Questions</a:t>
            </a:r>
            <a:r>
              <a:rPr sz="6000" spc="-114" dirty="0"/>
              <a:t> </a:t>
            </a:r>
            <a:r>
              <a:rPr sz="6000" spc="-50" dirty="0"/>
              <a:t>?</a:t>
            </a:r>
            <a:endParaRPr sz="6000" dirty="0"/>
          </a:p>
        </p:txBody>
      </p:sp>
      <p:sp>
        <p:nvSpPr>
          <p:cNvPr id="3" name="object 3"/>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pic>
        <p:nvPicPr>
          <p:cNvPr id="3" name="object 3"/>
          <p:cNvPicPr/>
          <p:nvPr/>
        </p:nvPicPr>
        <p:blipFill>
          <a:blip r:embed="rId2" cstate="print"/>
          <a:stretch>
            <a:fillRect/>
          </a:stretch>
        </p:blipFill>
        <p:spPr>
          <a:xfrm>
            <a:off x="0" y="0"/>
            <a:ext cx="12192000" cy="6857997"/>
          </a:xfrm>
          <a:prstGeom prst="rect">
            <a:avLst/>
          </a:prstGeom>
        </p:spPr>
      </p:pic>
      <p:sp>
        <p:nvSpPr>
          <p:cNvPr id="4" name="object 4"/>
          <p:cNvSpPr txBox="1">
            <a:spLocks noGrp="1"/>
          </p:cNvSpPr>
          <p:nvPr>
            <p:ph type="title"/>
          </p:nvPr>
        </p:nvSpPr>
        <p:spPr>
          <a:xfrm>
            <a:off x="4157345" y="2405443"/>
            <a:ext cx="3881120" cy="1032510"/>
          </a:xfrm>
          <a:prstGeom prst="rect">
            <a:avLst/>
          </a:prstGeom>
        </p:spPr>
        <p:txBody>
          <a:bodyPr vert="horz" wrap="square" lIns="0" tIns="13335" rIns="0" bIns="0" rtlCol="0">
            <a:spAutoFit/>
          </a:bodyPr>
          <a:lstStyle/>
          <a:p>
            <a:pPr marL="12700">
              <a:lnSpc>
                <a:spcPct val="100000"/>
              </a:lnSpc>
              <a:spcBef>
                <a:spcPts val="105"/>
              </a:spcBef>
            </a:pPr>
            <a:r>
              <a:rPr sz="6600" dirty="0">
                <a:solidFill>
                  <a:srgbClr val="FFFFFF"/>
                </a:solidFill>
              </a:rPr>
              <a:t>Thank</a:t>
            </a:r>
            <a:r>
              <a:rPr sz="6600" spc="-110" dirty="0">
                <a:solidFill>
                  <a:srgbClr val="FFFFFF"/>
                </a:solidFill>
              </a:rPr>
              <a:t> </a:t>
            </a:r>
            <a:r>
              <a:rPr sz="6600" spc="-470" dirty="0">
                <a:solidFill>
                  <a:srgbClr val="FFFFFF"/>
                </a:solidFill>
              </a:rPr>
              <a:t>Y</a:t>
            </a:r>
            <a:r>
              <a:rPr sz="6600" spc="15" dirty="0">
                <a:solidFill>
                  <a:srgbClr val="FFFFFF"/>
                </a:solidFill>
              </a:rPr>
              <a:t>o</a:t>
            </a:r>
            <a:r>
              <a:rPr sz="6600" spc="20" dirty="0">
                <a:solidFill>
                  <a:srgbClr val="FFFFFF"/>
                </a:solidFill>
              </a:rPr>
              <a:t>u</a:t>
            </a:r>
            <a:r>
              <a:rPr sz="6600" spc="40" dirty="0">
                <a:solidFill>
                  <a:srgbClr val="FFFFFF"/>
                </a:solidFill>
              </a:rPr>
              <a:t>!</a:t>
            </a:r>
            <a:endParaRPr sz="6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390</TotalTime>
  <Words>1648</Words>
  <Application>Microsoft Office PowerPoint</Application>
  <PresentationFormat>Widescreen</PresentationFormat>
  <Paragraphs>279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Courier New</vt:lpstr>
      <vt:lpstr>Wingdings</vt:lpstr>
      <vt:lpstr>Office Theme</vt:lpstr>
      <vt:lpstr>Secure Remote Access VPN using           WireGuard</vt:lpstr>
      <vt:lpstr>Agenda</vt:lpstr>
      <vt:lpstr>INTRODUCTION</vt:lpstr>
      <vt:lpstr>OBJECTIVES</vt:lpstr>
      <vt:lpstr>Remote Access Solution Design Document </vt:lpstr>
      <vt:lpstr>High-Level Architecture</vt:lpstr>
      <vt:lpstr>Network Design &amp; Security Controls</vt:lpstr>
      <vt:lpstr>Encryption and Authentication Plan </vt:lpstr>
      <vt:lpstr>Authentication Plan (MFA + Access Control)</vt:lpstr>
      <vt:lpstr>Endpoint Security Plan </vt:lpstr>
      <vt:lpstr>Network Access Control Strategy </vt:lpstr>
      <vt:lpstr>PowerPoint Presentation</vt:lpstr>
      <vt:lpstr>Secure Remote Access Tools Configuration </vt:lpstr>
      <vt:lpstr>Monitoring and Logging Plan </vt:lpstr>
      <vt:lpstr>PowerPoint Presentation</vt:lpstr>
      <vt:lpstr>User Training Materials</vt:lpstr>
      <vt:lpstr>Policy and Compliance Documentation </vt:lpstr>
      <vt:lpstr>Mitigation</vt:lpstr>
      <vt:lpstr>Conclusion</vt:lpstr>
      <vt:lpstr>Questions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Jheel Bhandia</cp:lastModifiedBy>
  <cp:revision>9</cp:revision>
  <dcterms:created xsi:type="dcterms:W3CDTF">2025-10-12T12:16:39Z</dcterms:created>
  <dcterms:modified xsi:type="dcterms:W3CDTF">2025-12-03T07:41:17Z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2025-10-12T00:00:00Z</vt:filetime>
  </property>
  <property fmtid="{D5CDD505-2E9C-101B-9397-08002B2CF9AE}" pid="3" name="LastSaved">
    <vt:filetime>2025-10-12T00:00:00Z</vt:filetime>
  </property>
</Properties>
</file>